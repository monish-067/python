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64" r:id="rId10"/>
    <p:sldId id="278" r:id="rId11"/>
    <p:sldId id="285" r:id="rId12"/>
    <p:sldId id="266" r:id="rId13"/>
    <p:sldId id="279" r:id="rId14"/>
    <p:sldId id="282" r:id="rId15"/>
    <p:sldId id="268" r:id="rId16"/>
    <p:sldId id="280" r:id="rId17"/>
    <p:sldId id="283" r:id="rId18"/>
    <p:sldId id="270" r:id="rId19"/>
    <p:sldId id="281" r:id="rId20"/>
    <p:sldId id="272" r:id="rId21"/>
    <p:sldId id="276" r:id="rId22"/>
    <p:sldId id="273" r:id="rId23"/>
    <p:sldId id="274" r:id="rId24"/>
    <p:sldId id="275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35121" y="161984"/>
            <a:ext cx="7521756" cy="1171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11019" y="1782962"/>
            <a:ext cx="6606540" cy="331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24818" y="2091818"/>
            <a:ext cx="9526763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628015" algn="ctr">
              <a:spcBef>
                <a:spcPts val="100"/>
              </a:spcBef>
            </a:pPr>
            <a:r>
              <a:rPr lang="en-US" sz="3200" spc="-10" dirty="0">
                <a:latin typeface="Calibri"/>
                <a:ea typeface="Calibri"/>
                <a:cs typeface="Calibri"/>
              </a:rPr>
              <a:t>DATA CLEANING AND CSV ANALYSIS PIPELINE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2864" y="445893"/>
            <a:ext cx="9852047" cy="11096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18534" y="3582540"/>
            <a:ext cx="1570355" cy="3302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ea typeface="Calibri"/>
                <a:cs typeface="Calibri"/>
              </a:rPr>
              <a:t>Student </a:t>
            </a:r>
            <a:r>
              <a:rPr sz="2000" b="1" spc="-20" dirty="0">
                <a:latin typeface="Calibri"/>
                <a:ea typeface="Calibri"/>
                <a:cs typeface="Calibri"/>
              </a:rPr>
              <a:t>Name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090600"/>
              </p:ext>
            </p:extLst>
          </p:nvPr>
        </p:nvGraphicFramePr>
        <p:xfrm>
          <a:off x="7065818" y="4031699"/>
          <a:ext cx="3708388" cy="2108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7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0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 marL="31750" lvl="0">
                        <a:lnSpc>
                          <a:spcPts val="2180"/>
                        </a:lnSpc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 S. Surender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180"/>
                        </a:lnSpc>
                      </a:pPr>
                      <a:r>
                        <a:rPr lang="en-US" sz="2000" b="1" dirty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>
                          <a:latin typeface="Calibri"/>
                          <a:ea typeface="Calibri"/>
                          <a:cs typeface="Calibri"/>
                        </a:rPr>
                        <a:t>- </a:t>
                      </a:r>
                      <a:r>
                        <a:rPr lang="en-US" sz="2000" b="1" spc="-10">
                          <a:latin typeface="Calibri"/>
                          <a:ea typeface="Calibri"/>
                          <a:cs typeface="Calibri"/>
                        </a:rPr>
                        <a:t>1924260070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lang="en-US" sz="2000" b="1" spc="-145">
                          <a:latin typeface="Calibri"/>
                          <a:ea typeface="Calibri"/>
                          <a:cs typeface="Calibri"/>
                        </a:rPr>
                        <a:t> R . Deepak</a:t>
                      </a:r>
                      <a:endParaRPr sz="2000" b="1" spc="-145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b="1">
                          <a:latin typeface="Calibri"/>
                          <a:ea typeface="Calibri"/>
                          <a:cs typeface="Calibri"/>
                        </a:rPr>
                        <a:t>- </a:t>
                      </a:r>
                      <a:r>
                        <a:rPr lang="en-US" sz="2000" b="1" spc="-10">
                          <a:latin typeface="Calibri"/>
                          <a:ea typeface="Calibri"/>
                          <a:cs typeface="Calibri"/>
                        </a:rPr>
                        <a:t>1924260153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1750" indent="0">
                        <a:lnSpc>
                          <a:spcPct val="100000"/>
                        </a:lnSpc>
                        <a:spcBef>
                          <a:spcPts val="475"/>
                        </a:spcBef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 I. Sundar</a:t>
                      </a:r>
                      <a:endParaRPr sz="20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b="1">
                          <a:latin typeface="Calibri"/>
                          <a:ea typeface="Calibri"/>
                          <a:cs typeface="Calibri"/>
                        </a:rPr>
                        <a:t>- </a:t>
                      </a:r>
                      <a:r>
                        <a:rPr lang="en-US" sz="2000" b="1" spc="-10">
                          <a:latin typeface="Calibri"/>
                          <a:ea typeface="Calibri"/>
                          <a:cs typeface="Calibri"/>
                        </a:rPr>
                        <a:t>1924260178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lang="en-US" sz="2000" b="1" spc="-10" dirty="0">
                          <a:latin typeface="Calibri"/>
                          <a:ea typeface="Calibri"/>
                          <a:cs typeface="Calibri"/>
                        </a:rPr>
                        <a:t> A. Swagath</a:t>
                      </a:r>
                      <a:endParaRPr sz="2000" b="1" spc="-1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b="1">
                          <a:latin typeface="Calibri"/>
                          <a:ea typeface="Calibri"/>
                          <a:cs typeface="Calibri"/>
                        </a:rPr>
                        <a:t>- </a:t>
                      </a:r>
                      <a:r>
                        <a:rPr lang="en-US" sz="2000" b="1" spc="-10">
                          <a:latin typeface="Calibri"/>
                          <a:ea typeface="Calibri"/>
                          <a:cs typeface="Calibri"/>
                        </a:rPr>
                        <a:t>1925260056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marL="31750">
                        <a:lnSpc>
                          <a:spcPts val="2335"/>
                        </a:lnSpc>
                        <a:spcBef>
                          <a:spcPts val="475"/>
                        </a:spcBef>
                      </a:pPr>
                      <a:r>
                        <a:rPr lang="en-US" sz="2000" b="1" spc="-80">
                          <a:latin typeface="Calibri"/>
                          <a:ea typeface="Calibri"/>
                          <a:cs typeface="Calibri"/>
                        </a:rPr>
                        <a:t> L. Monish</a:t>
                      </a:r>
                      <a:endParaRPr sz="2000" b="1" spc="-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335"/>
                        </a:lnSpc>
                        <a:spcBef>
                          <a:spcPts val="475"/>
                        </a:spcBef>
                      </a:pPr>
                      <a:r>
                        <a:rPr sz="2000" b="1">
                          <a:latin typeface="Calibri"/>
                          <a:ea typeface="Calibri"/>
                          <a:cs typeface="Calibri"/>
                        </a:rPr>
                        <a:t>- </a:t>
                      </a:r>
                      <a:r>
                        <a:rPr lang="en-US" sz="2000" b="1" spc="-10">
                          <a:latin typeface="Calibri"/>
                          <a:ea typeface="Calibri"/>
                          <a:cs typeface="Calibri"/>
                        </a:rPr>
                        <a:t>1972260035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247443" y="3545417"/>
            <a:ext cx="4612668" cy="202876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>
                <a:latin typeface="Calibri"/>
                <a:ea typeface="Calibri"/>
                <a:cs typeface="Calibri"/>
              </a:rPr>
              <a:t>PYTHON PROGRAMMING – CSA0804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b="1" spc="-10" dirty="0">
              <a:latin typeface="Calibri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2400" b="1" spc="-10" dirty="0">
              <a:latin typeface="Calibri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ea typeface="Calibri"/>
                <a:cs typeface="Calibri"/>
              </a:rPr>
              <a:t>Supervisor</a:t>
            </a:r>
            <a:endParaRPr sz="2400" dirty="0">
              <a:latin typeface="Calibri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2000" b="1" spc="-45" dirty="0">
                <a:latin typeface="Calibri"/>
                <a:ea typeface="Calibri"/>
                <a:cs typeface="Calibri"/>
              </a:rPr>
              <a:t>Dr.</a:t>
            </a:r>
            <a:r>
              <a:rPr sz="2000" b="1" spc="-40" dirty="0">
                <a:latin typeface="Calibri"/>
                <a:ea typeface="Calibri"/>
                <a:cs typeface="Calibri"/>
              </a:rPr>
              <a:t> </a:t>
            </a:r>
            <a:r>
              <a:rPr sz="2000" b="1" dirty="0">
                <a:latin typeface="Calibri"/>
                <a:ea typeface="Calibri"/>
                <a:cs typeface="Calibri"/>
              </a:rPr>
              <a:t>C.</a:t>
            </a:r>
            <a:r>
              <a:rPr sz="2000" b="1" spc="-40" dirty="0">
                <a:latin typeface="Calibri"/>
                <a:ea typeface="Calibri"/>
                <a:cs typeface="Calibri"/>
              </a:rPr>
              <a:t> </a:t>
            </a:r>
            <a:r>
              <a:rPr sz="2000" b="1" dirty="0">
                <a:latin typeface="Calibri"/>
                <a:ea typeface="Calibri"/>
                <a:cs typeface="Calibri"/>
              </a:rPr>
              <a:t>Rohith</a:t>
            </a:r>
            <a:r>
              <a:rPr sz="2000" b="1" spc="-40" dirty="0">
                <a:latin typeface="Calibri"/>
                <a:ea typeface="Calibri"/>
                <a:cs typeface="Calibri"/>
              </a:rPr>
              <a:t> </a:t>
            </a:r>
            <a:r>
              <a:rPr sz="2000" b="1" spc="-20" dirty="0">
                <a:latin typeface="Calibri"/>
                <a:ea typeface="Calibri"/>
                <a:cs typeface="Calibri"/>
              </a:rPr>
              <a:t>Bhat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9D2F2F-62C1-A0B1-E9D7-57427EB21F6D}"/>
              </a:ext>
            </a:extLst>
          </p:cNvPr>
          <p:cNvSpPr txBox="1"/>
          <p:nvPr/>
        </p:nvSpPr>
        <p:spPr>
          <a:xfrm>
            <a:off x="9345082" y="3545417"/>
            <a:ext cx="24129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/>
              <a:t>Register Number</a:t>
            </a:r>
            <a:endParaRPr lang="en-US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14904" y="470303"/>
            <a:ext cx="5156200" cy="6350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0">
                <a:latin typeface="Calibri"/>
                <a:ea typeface="Calibri"/>
                <a:cs typeface="Calibri"/>
              </a:rPr>
              <a:t>TABLE</a:t>
            </a:r>
            <a:r>
              <a:rPr spc="-130" dirty="0">
                <a:latin typeface="Calibri"/>
                <a:ea typeface="Calibri"/>
                <a:cs typeface="Calibri"/>
              </a:rPr>
              <a:t> </a:t>
            </a:r>
            <a:r>
              <a:rPr>
                <a:latin typeface="Calibri"/>
                <a:ea typeface="Calibri"/>
                <a:cs typeface="Calibri"/>
              </a:rPr>
              <a:t>OF</a:t>
            </a:r>
            <a:r>
              <a:rPr spc="-250" dirty="0">
                <a:latin typeface="Calibri"/>
                <a:ea typeface="Calibri"/>
                <a:cs typeface="Calibri"/>
              </a:rPr>
              <a:t> </a:t>
            </a:r>
            <a:r>
              <a:rPr spc="-10">
                <a:latin typeface="Calibri"/>
                <a:ea typeface="Calibri"/>
                <a:cs typeface="Calibri"/>
              </a:rPr>
              <a:t>CONTENT</a:t>
            </a:r>
            <a:endParaRPr lang="en-US" spc="-1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21124" y="1246091"/>
            <a:ext cx="9274663" cy="5201424"/>
          </a:xfrm>
          <a:prstGeom prst="rect">
            <a:avLst/>
          </a:prstGeom>
        </p:spPr>
        <p:txBody>
          <a:bodyPr vert="horz" wrap="square" lIns="0" tIns="226060" rIns="0" bIns="0" rtlCol="0" anchor="t">
            <a:spAutoFit/>
          </a:bodyPr>
          <a:lstStyle/>
          <a:p>
            <a:pPr marL="504825" indent="-492125">
              <a:lnSpc>
                <a:spcPct val="100000"/>
              </a:lnSpc>
              <a:spcBef>
                <a:spcPts val="1780"/>
              </a:spcBef>
              <a:buFont typeface="Arial"/>
              <a:buChar char="•"/>
              <a:tabLst>
                <a:tab pos="505459" algn="l"/>
              </a:tabLst>
            </a:pPr>
            <a:r>
              <a:rPr lang="en-US" sz="2800" b="1" spc="-10">
                <a:latin typeface="Calibri"/>
                <a:ea typeface="Calibri"/>
                <a:cs typeface="Calibri"/>
              </a:rPr>
              <a:t>ABSTRACT</a:t>
            </a:r>
            <a:endParaRPr sz="2800" b="1">
              <a:latin typeface="Calibri"/>
              <a:ea typeface="Calibri"/>
              <a:cs typeface="Calibri"/>
            </a:endParaRPr>
          </a:p>
          <a:p>
            <a:pPr marL="504825" indent="-492125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505459" algn="l"/>
              </a:tabLst>
            </a:pPr>
            <a:r>
              <a:rPr lang="en-US" sz="2800" b="1" spc="-10">
                <a:latin typeface="Calibri"/>
                <a:ea typeface="Calibri"/>
                <a:cs typeface="Calibri"/>
              </a:rPr>
              <a:t>INTRODUCTION</a:t>
            </a:r>
            <a:endParaRPr sz="2800" b="1">
              <a:latin typeface="Calibri"/>
              <a:ea typeface="Calibri"/>
              <a:cs typeface="Calibri"/>
            </a:endParaRPr>
          </a:p>
          <a:p>
            <a:pPr marL="504825" indent="-492125">
              <a:spcBef>
                <a:spcPts val="1680"/>
              </a:spcBef>
              <a:buFont typeface="Arial"/>
              <a:buChar char="•"/>
              <a:tabLst>
                <a:tab pos="505459" algn="l"/>
              </a:tabLst>
            </a:pPr>
            <a:r>
              <a:rPr lang="en-US" sz="2800" b="1">
                <a:latin typeface="Calibri"/>
                <a:ea typeface="Calibri"/>
                <a:cs typeface="Calibri"/>
              </a:rPr>
              <a:t>PROBLEM INDENTIFICATION AND ANALYSIS</a:t>
            </a:r>
            <a:endParaRPr lang="en-US" sz="2800" b="1" spc="-20">
              <a:latin typeface="Calibri"/>
              <a:ea typeface="Calibri"/>
              <a:cs typeface="Calibri"/>
            </a:endParaRPr>
          </a:p>
          <a:p>
            <a:pPr marL="504825" indent="-492125">
              <a:spcBef>
                <a:spcPts val="1680"/>
              </a:spcBef>
              <a:buFont typeface="Arial"/>
              <a:buChar char="•"/>
              <a:tabLst>
                <a:tab pos="505459" algn="l"/>
              </a:tabLst>
            </a:pPr>
            <a:r>
              <a:rPr lang="en-US" sz="2800" b="1">
                <a:latin typeface="Calibri"/>
                <a:ea typeface="Calibri"/>
                <a:cs typeface="Calibri"/>
              </a:rPr>
              <a:t>SOLUTION DESIGN AND IMPLEMENTATION</a:t>
            </a:r>
            <a:endParaRPr lang="en-US" sz="2800" b="1" spc="-10">
              <a:latin typeface="Calibri"/>
              <a:ea typeface="Calibri"/>
              <a:cs typeface="Calibri"/>
            </a:endParaRPr>
          </a:p>
          <a:p>
            <a:pPr marL="504825" indent="-492125">
              <a:spcBef>
                <a:spcPts val="1680"/>
              </a:spcBef>
              <a:buFont typeface="Arial"/>
              <a:buChar char="•"/>
              <a:tabLst>
                <a:tab pos="505459" algn="l"/>
              </a:tabLst>
            </a:pPr>
            <a:r>
              <a:rPr lang="en-US" sz="2800" b="1">
                <a:latin typeface="Calibri"/>
                <a:ea typeface="Calibri"/>
                <a:cs typeface="Calibri"/>
              </a:rPr>
              <a:t>RESULTS AND COMPARISON</a:t>
            </a:r>
            <a:endParaRPr lang="en-US" sz="2800" b="1" spc="-20">
              <a:latin typeface="Calibri"/>
              <a:ea typeface="Calibri"/>
              <a:cs typeface="Calibri"/>
            </a:endParaRPr>
          </a:p>
          <a:p>
            <a:pPr marL="504825" indent="-492125">
              <a:spcBef>
                <a:spcPts val="1680"/>
              </a:spcBef>
              <a:buFont typeface="Arial"/>
              <a:buChar char="•"/>
              <a:tabLst>
                <a:tab pos="505459" algn="l"/>
              </a:tabLst>
            </a:pPr>
            <a:r>
              <a:rPr lang="en-US" sz="2800" b="1" spc="-10">
                <a:latin typeface="Calibri"/>
                <a:ea typeface="Calibri"/>
                <a:cs typeface="Calibri"/>
              </a:rPr>
              <a:t>LIMITATIONS AND FUTURE SCOPE</a:t>
            </a:r>
            <a:endParaRPr lang="en-US" sz="2800" b="1">
              <a:latin typeface="Calibri"/>
              <a:ea typeface="Calibri"/>
              <a:cs typeface="Calibri"/>
            </a:endParaRPr>
          </a:p>
          <a:p>
            <a:pPr marL="504825" indent="-492125">
              <a:spcBef>
                <a:spcPts val="1680"/>
              </a:spcBef>
              <a:buFont typeface="Arial"/>
              <a:buChar char="•"/>
              <a:tabLst>
                <a:tab pos="505459" algn="l"/>
              </a:tabLst>
            </a:pPr>
            <a:r>
              <a:rPr lang="en-US" sz="2800" b="1" spc="-10">
                <a:latin typeface="Calibri"/>
                <a:ea typeface="Calibri"/>
                <a:cs typeface="Calibri"/>
              </a:rPr>
              <a:t>CONCLUSION</a:t>
            </a:r>
            <a:endParaRPr lang="en-US" sz="2800" b="1">
              <a:latin typeface="Calibri"/>
              <a:ea typeface="Calibri"/>
              <a:cs typeface="Calibri"/>
            </a:endParaRPr>
          </a:p>
          <a:p>
            <a:pPr marL="504825" indent="-492125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505459" algn="l"/>
              </a:tabLst>
            </a:pPr>
            <a:r>
              <a:rPr lang="en-US" sz="2800" b="1" spc="-10">
                <a:latin typeface="Calibri"/>
                <a:ea typeface="Calibri"/>
                <a:cs typeface="Calibri"/>
              </a:rPr>
              <a:t>REFERENCES</a:t>
            </a:r>
            <a:endParaRPr sz="2800" b="1">
              <a:latin typeface="Calibri"/>
              <a:ea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3761" y="93699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35121" y="161984"/>
            <a:ext cx="7521756" cy="959730"/>
          </a:xfrm>
          <a:prstGeom prst="rect">
            <a:avLst/>
          </a:prstGeom>
        </p:spPr>
        <p:txBody>
          <a:bodyPr vert="horz" wrap="square" lIns="0" tIns="340848" rIns="0" bIns="0" rtlCol="0" anchor="t">
            <a:spAutoFit/>
          </a:bodyPr>
          <a:lstStyle/>
          <a:p>
            <a:pPr marL="2122805" algn="l">
              <a:spcBef>
                <a:spcPts val="100"/>
              </a:spcBef>
            </a:pPr>
            <a:r>
              <a:rPr lang="en-US" spc="-10">
                <a:latin typeface="Calibri"/>
                <a:ea typeface="Calibri"/>
                <a:cs typeface="Calibri"/>
              </a:rPr>
              <a:t>  </a:t>
            </a:r>
            <a:r>
              <a:rPr spc="-10">
                <a:latin typeface="Calibri"/>
                <a:ea typeface="Calibri"/>
                <a:cs typeface="Calibri"/>
              </a:rPr>
              <a:t>ABSTRACT</a:t>
            </a:r>
            <a:endParaRPr lang="en-US" spc="-1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6829" y="1573382"/>
            <a:ext cx="11078552" cy="4660250"/>
          </a:xfrm>
          <a:prstGeom prst="rect">
            <a:avLst/>
          </a:prstGeom>
        </p:spPr>
        <p:txBody>
          <a:bodyPr vert="horz" wrap="square" lIns="0" tIns="226060" rIns="0" bIns="0" rtlCol="0" anchor="t">
            <a:spAutoFit/>
          </a:bodyPr>
          <a:lstStyle/>
          <a:p>
            <a:pPr algn="just">
              <a:buSzPct val="96428"/>
              <a:buChar char="•"/>
              <a:tabLst>
                <a:tab pos="136525" algn="l"/>
              </a:tabLst>
            </a:pPr>
            <a:r>
              <a:rPr lang="en-US" sz="2400"/>
              <a:t> This project develops a Python-based pipeline to automate the extraction, cleaning, and analysis of raw CSV datasets.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algn="just">
              <a:buSzPct val="96428"/>
              <a:buChar char="•"/>
              <a:tabLst>
                <a:tab pos="136525" algn="l"/>
              </a:tabLst>
            </a:pPr>
            <a:endParaRPr lang="en-US" sz="2400" dirty="0"/>
          </a:p>
          <a:p>
            <a:pPr algn="just">
              <a:buChar char="•"/>
              <a:tabLst>
                <a:tab pos="136525" algn="l"/>
              </a:tabLst>
            </a:pPr>
            <a:r>
              <a:rPr lang="en-US" sz="2400"/>
              <a:t> It leverages libraries like Pandas to handle missing values, standardize formats, and remove duplicates efficiently.</a:t>
            </a:r>
            <a:endParaRPr lang="en-US"/>
          </a:p>
          <a:p>
            <a:pPr algn="just">
              <a:buChar char="•"/>
              <a:tabLst>
                <a:tab pos="136525" algn="l"/>
              </a:tabLst>
            </a:pPr>
            <a:endParaRPr lang="en-US" sz="2400" dirty="0"/>
          </a:p>
          <a:p>
            <a:pPr algn="just">
              <a:buChar char="•"/>
              <a:tabLst>
                <a:tab pos="136525" algn="l"/>
              </a:tabLst>
            </a:pPr>
            <a:r>
              <a:rPr lang="en-US" sz="2400"/>
              <a:t> The pipeline outputs structured, analysis-ready data alongside exploratory visual summaries.</a:t>
            </a:r>
            <a:endParaRPr lang="en-US"/>
          </a:p>
          <a:p>
            <a:pPr algn="just">
              <a:buChar char="•"/>
              <a:tabLst>
                <a:tab pos="136525" algn="l"/>
              </a:tabLst>
            </a:pPr>
            <a:endParaRPr lang="en-US" sz="2400" dirty="0"/>
          </a:p>
          <a:p>
            <a:pPr algn="just">
              <a:buChar char="•"/>
              <a:tabLst>
                <a:tab pos="136525" algn="l"/>
              </a:tabLst>
            </a:pPr>
            <a:r>
              <a:rPr lang="en-US" sz="2400"/>
              <a:t> Ultimately, it significantly reduces manual preprocessing time and ensures data reliability for downstream tasks.</a:t>
            </a:r>
            <a:endParaRPr lang="en-US"/>
          </a:p>
          <a:p>
            <a:pPr algn="just">
              <a:buSzPct val="96428"/>
              <a:buChar char="•"/>
              <a:tabLst>
                <a:tab pos="136525" algn="l"/>
              </a:tabLst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3761" y="93699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17407" y="181776"/>
            <a:ext cx="7521756" cy="901633"/>
          </a:xfrm>
          <a:prstGeom prst="rect">
            <a:avLst/>
          </a:prstGeom>
        </p:spPr>
        <p:txBody>
          <a:bodyPr vert="horz" wrap="square" lIns="0" tIns="283313" rIns="0" bIns="0" rtlCol="0" anchor="t">
            <a:spAutoFit/>
          </a:bodyPr>
          <a:lstStyle/>
          <a:p>
            <a:pPr marL="1728470">
              <a:spcBef>
                <a:spcPts val="100"/>
              </a:spcBef>
            </a:pPr>
            <a:r>
              <a:rPr lang="en-US" spc="-10">
                <a:latin typeface="Calibri"/>
                <a:ea typeface="Calibri"/>
                <a:cs typeface="Calibri"/>
              </a:rPr>
              <a:t>    </a:t>
            </a:r>
            <a:r>
              <a:rPr spc="-10">
                <a:latin typeface="Calibri"/>
                <a:ea typeface="Calibri"/>
                <a:cs typeface="Calibri"/>
              </a:rPr>
              <a:t>INTRODUCTION</a:t>
            </a:r>
            <a:endParaRPr lang="en-US" spc="-1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6063" y="1965563"/>
            <a:ext cx="11096281" cy="426014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just">
              <a:buFont typeface="Arial MT"/>
              <a:buChar char="•"/>
              <a:tabLst>
                <a:tab pos="195580" algn="l"/>
              </a:tabLst>
            </a:pPr>
            <a:r>
              <a:rPr lang="en-US" sz="2400" spc="-10"/>
              <a:t>  High-quality data is the foundational requirement for accurate analytics and data science workflows.</a:t>
            </a:r>
            <a:endParaRPr lang="en-US" sz="2400" spc="-10">
              <a:latin typeface="Times New Roman"/>
              <a:cs typeface="Times New Roman"/>
            </a:endParaRPr>
          </a:p>
          <a:p>
            <a:pPr algn="just">
              <a:buFont typeface="Arial MT"/>
              <a:buChar char="•"/>
              <a:tabLst>
                <a:tab pos="195580" algn="l"/>
              </a:tabLst>
            </a:pPr>
            <a:endParaRPr lang="en-US" spc="-10" dirty="0"/>
          </a:p>
          <a:p>
            <a:pPr algn="just">
              <a:buFont typeface="Arial MT"/>
              <a:buChar char="•"/>
              <a:tabLst>
                <a:tab pos="195580" algn="l"/>
              </a:tabLst>
            </a:pPr>
            <a:r>
              <a:rPr lang="en-US" sz="2400" spc="-10"/>
              <a:t>  However, raw data collected from various sources is often messy, inconsistent, and stored in unoptimized CSV formats.</a:t>
            </a:r>
            <a:endParaRPr lang="en-US"/>
          </a:p>
          <a:p>
            <a:pPr algn="just">
              <a:buFont typeface="Arial MT"/>
              <a:buChar char="•"/>
              <a:tabLst>
                <a:tab pos="195580" algn="l"/>
              </a:tabLst>
            </a:pPr>
            <a:endParaRPr lang="en-US" spc="-10" dirty="0"/>
          </a:p>
          <a:p>
            <a:pPr algn="just">
              <a:buFont typeface="Arial MT"/>
              <a:buChar char="•"/>
              <a:tabLst>
                <a:tab pos="195580" algn="l"/>
              </a:tabLst>
            </a:pPr>
            <a:r>
              <a:rPr lang="en-US" sz="2400" spc="-10"/>
              <a:t>  Manual data cleaning is notoriously time-consuming, prone to human error, and difficult to scale across large datasets.</a:t>
            </a:r>
            <a:endParaRPr lang="en-US"/>
          </a:p>
          <a:p>
            <a:pPr algn="just">
              <a:buFont typeface="Arial MT"/>
              <a:buChar char="•"/>
              <a:tabLst>
                <a:tab pos="195580" algn="l"/>
              </a:tabLst>
            </a:pPr>
            <a:endParaRPr lang="en-US" spc="-10" dirty="0"/>
          </a:p>
          <a:p>
            <a:pPr algn="just">
              <a:buFont typeface="Arial MT"/>
              <a:buChar char="•"/>
              <a:tabLst>
                <a:tab pos="195580" algn="l"/>
              </a:tabLst>
            </a:pPr>
            <a:r>
              <a:rPr lang="en-US" sz="2400" spc="-10"/>
              <a:t> This capstone introduces a standardized, automated Python pipeline to streamline data preparation from ingestion to initial analysis.</a:t>
            </a:r>
            <a:endParaRPr lang="en-US"/>
          </a:p>
          <a:p>
            <a:pPr algn="just">
              <a:buFont typeface="Arial MT"/>
              <a:buChar char="•"/>
              <a:tabLst>
                <a:tab pos="195580" algn="l"/>
              </a:tabLst>
            </a:pPr>
            <a:endParaRPr lang="en-US" sz="2400" spc="-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3761" y="93699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14290" y="181776"/>
            <a:ext cx="7521756" cy="1053065"/>
          </a:xfrm>
          <a:prstGeom prst="rect">
            <a:avLst/>
          </a:prstGeom>
        </p:spPr>
        <p:txBody>
          <a:bodyPr vert="horz" wrap="square" lIns="0" tIns="433281" rIns="0" bIns="0" rtlCol="0" anchor="t">
            <a:spAutoFit/>
          </a:bodyPr>
          <a:lstStyle/>
          <a:p>
            <a:pPr marL="1146175" algn="l">
              <a:lnSpc>
                <a:spcPct val="100000"/>
              </a:lnSpc>
              <a:spcBef>
                <a:spcPts val="100"/>
              </a:spcBef>
            </a:pPr>
            <a:r>
              <a:rPr>
                <a:latin typeface="Calibri"/>
                <a:ea typeface="Calibri"/>
                <a:cs typeface="Calibri"/>
              </a:rPr>
              <a:t>PROBLEM</a:t>
            </a:r>
            <a:r>
              <a:rPr spc="-45" dirty="0">
                <a:latin typeface="Calibri"/>
                <a:ea typeface="Calibri"/>
                <a:cs typeface="Calibri"/>
              </a:rPr>
              <a:t> </a:t>
            </a:r>
            <a:r>
              <a:rPr spc="-60">
                <a:latin typeface="Calibri"/>
                <a:ea typeface="Calibri"/>
                <a:cs typeface="Calibri"/>
              </a:rPr>
              <a:t>STATEMENT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8464" y="1947740"/>
            <a:ext cx="11217226" cy="426014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just">
              <a:buFont typeface="Arial MT"/>
              <a:buChar char="•"/>
              <a:tabLst>
                <a:tab pos="187960" algn="l"/>
              </a:tabLst>
            </a:pPr>
            <a:r>
              <a:rPr lang="en-US" sz="2400" spc="-10"/>
              <a:t> Raw CSV datasets consistently contain missing values, duplicate records, and incorrect data types that disrupt analytical models.</a:t>
            </a:r>
            <a:endParaRPr lang="en-US" sz="2400" spc="-10" dirty="0"/>
          </a:p>
          <a:p>
            <a:pPr algn="just">
              <a:buFont typeface="Arial MT"/>
              <a:buChar char="•"/>
              <a:tabLst>
                <a:tab pos="187960" algn="l"/>
              </a:tabLst>
            </a:pPr>
            <a:endParaRPr lang="en-US" spc="-10" dirty="0"/>
          </a:p>
          <a:p>
            <a:pPr algn="just">
              <a:buFont typeface="Arial MT"/>
              <a:buChar char="•"/>
              <a:tabLst>
                <a:tab pos="187960" algn="l"/>
              </a:tabLst>
            </a:pPr>
            <a:r>
              <a:rPr lang="en-US" sz="2400" spc="-10"/>
              <a:t> Data professionals spend a disproportionate amount of time manually cleaning data rather than extracting actionable insights.</a:t>
            </a:r>
            <a:endParaRPr lang="en-US"/>
          </a:p>
          <a:p>
            <a:pPr algn="just">
              <a:buFont typeface="Arial MT"/>
              <a:buChar char="•"/>
              <a:tabLst>
                <a:tab pos="187960" algn="l"/>
              </a:tabLst>
            </a:pPr>
            <a:endParaRPr lang="en-US" spc="-10" dirty="0"/>
          </a:p>
          <a:p>
            <a:pPr algn="just">
              <a:buFont typeface="Arial MT"/>
              <a:buChar char="•"/>
              <a:tabLst>
                <a:tab pos="187960" algn="l"/>
              </a:tabLst>
            </a:pPr>
            <a:r>
              <a:rPr lang="en-US" sz="2400" spc="-10"/>
              <a:t> Many organizations lack standardized, reusable workflows, leading to inconsistent data handling across different projects.</a:t>
            </a:r>
            <a:endParaRPr lang="en-US"/>
          </a:p>
          <a:p>
            <a:pPr algn="just">
              <a:buFont typeface="Arial MT"/>
              <a:buChar char="•"/>
              <a:tabLst>
                <a:tab pos="187960" algn="l"/>
              </a:tabLst>
            </a:pPr>
            <a:endParaRPr lang="en-US" spc="-10" dirty="0"/>
          </a:p>
          <a:p>
            <a:pPr algn="just">
              <a:buFont typeface="Arial MT"/>
              <a:buChar char="•"/>
              <a:tabLst>
                <a:tab pos="187960" algn="l"/>
              </a:tabLst>
            </a:pPr>
            <a:r>
              <a:rPr lang="en-US" sz="2400" spc="-10"/>
              <a:t> There is a critical need for an automated, end-to-end Python pipeline that efficiently and reliably transforms messy CSVs into analysis-ready data.</a:t>
            </a:r>
            <a:endParaRPr lang="en-US"/>
          </a:p>
          <a:p>
            <a:pPr algn="just">
              <a:buFont typeface="Arial MT"/>
              <a:buChar char="•"/>
              <a:tabLst>
                <a:tab pos="187960" algn="l"/>
              </a:tabLst>
            </a:pPr>
            <a:endParaRPr lang="en-US" sz="2400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3761" y="93699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35121" y="161984"/>
            <a:ext cx="7521756" cy="1108492"/>
          </a:xfrm>
          <a:prstGeom prst="rect">
            <a:avLst/>
          </a:prstGeom>
        </p:spPr>
        <p:txBody>
          <a:bodyPr vert="horz" wrap="square" lIns="0" tIns="488172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>
                <a:latin typeface="Calibri"/>
                <a:ea typeface="Calibri"/>
                <a:cs typeface="Calibri"/>
              </a:rPr>
              <a:t>ARCHITECTURE</a:t>
            </a:r>
            <a:r>
              <a:rPr spc="-70" dirty="0">
                <a:latin typeface="Calibri"/>
                <a:ea typeface="Calibri"/>
                <a:cs typeface="Calibri"/>
              </a:rPr>
              <a:t> </a:t>
            </a:r>
            <a:r>
              <a:rPr spc="-10">
                <a:latin typeface="Calibri"/>
                <a:ea typeface="Calibri"/>
                <a:cs typeface="Calibri"/>
              </a:rPr>
              <a:t>DIAGRAM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3761" y="93699"/>
            <a:ext cx="1520113" cy="134288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3231E00-A177-BBF8-0E7A-902411E72CA4}"/>
              </a:ext>
            </a:extLst>
          </p:cNvPr>
          <p:cNvSpPr/>
          <p:nvPr/>
        </p:nvSpPr>
        <p:spPr>
          <a:xfrm>
            <a:off x="805146" y="3557627"/>
            <a:ext cx="1361993" cy="91016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Raw Data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FAF46F-FFC4-05B2-1745-9265E7D44B34}"/>
              </a:ext>
            </a:extLst>
          </p:cNvPr>
          <p:cNvSpPr/>
          <p:nvPr/>
        </p:nvSpPr>
        <p:spPr>
          <a:xfrm>
            <a:off x="3098474" y="3556000"/>
            <a:ext cx="1363784" cy="9046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Cleaning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F75A34-3B0E-6AAA-BFBB-67EA2509D9AF}"/>
              </a:ext>
            </a:extLst>
          </p:cNvPr>
          <p:cNvSpPr/>
          <p:nvPr/>
        </p:nvSpPr>
        <p:spPr>
          <a:xfrm>
            <a:off x="5414597" y="3555999"/>
            <a:ext cx="1363783" cy="9046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Validation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156D46-8729-DC36-75AB-243A32BB8D2B}"/>
              </a:ext>
            </a:extLst>
          </p:cNvPr>
          <p:cNvSpPr/>
          <p:nvPr/>
        </p:nvSpPr>
        <p:spPr>
          <a:xfrm>
            <a:off x="7705482" y="3557628"/>
            <a:ext cx="1363784" cy="9046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Reporting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5659DA-1726-50DD-C320-5E5BFBB7E059}"/>
              </a:ext>
            </a:extLst>
          </p:cNvPr>
          <p:cNvSpPr/>
          <p:nvPr/>
        </p:nvSpPr>
        <p:spPr>
          <a:xfrm>
            <a:off x="10015089" y="3544602"/>
            <a:ext cx="1363784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Clean 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261D4F-5C80-0AF9-BB3A-F940A9E0255A}"/>
              </a:ext>
            </a:extLst>
          </p:cNvPr>
          <p:cNvCxnSpPr/>
          <p:nvPr/>
        </p:nvCxnSpPr>
        <p:spPr>
          <a:xfrm>
            <a:off x="2177725" y="4048531"/>
            <a:ext cx="924170" cy="58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B57556-ED09-A2EF-9F7D-33E232EF9B24}"/>
              </a:ext>
            </a:extLst>
          </p:cNvPr>
          <p:cNvCxnSpPr/>
          <p:nvPr/>
        </p:nvCxnSpPr>
        <p:spPr>
          <a:xfrm>
            <a:off x="4465353" y="4047718"/>
            <a:ext cx="943706" cy="58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1C9DBB-B184-E16A-F742-5B5C2EE83EC9}"/>
              </a:ext>
            </a:extLst>
          </p:cNvPr>
          <p:cNvCxnSpPr/>
          <p:nvPr/>
        </p:nvCxnSpPr>
        <p:spPr>
          <a:xfrm>
            <a:off x="6786359" y="4050973"/>
            <a:ext cx="924168" cy="5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1BFCA9-D1E7-ED8C-2EE2-D0F0E2BB05A6}"/>
              </a:ext>
            </a:extLst>
          </p:cNvPr>
          <p:cNvCxnSpPr/>
          <p:nvPr/>
        </p:nvCxnSpPr>
        <p:spPr>
          <a:xfrm flipV="1">
            <a:off x="9060962" y="4056836"/>
            <a:ext cx="963245" cy="39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3797B6-1FBF-A579-CE85-75109BDFE8DC}"/>
              </a:ext>
            </a:extLst>
          </p:cNvPr>
          <p:cNvSpPr/>
          <p:nvPr/>
        </p:nvSpPr>
        <p:spPr>
          <a:xfrm>
            <a:off x="7700596" y="5399128"/>
            <a:ext cx="1354015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Change Report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0D9D73-5803-6EA1-D5A4-1558DD3F3B2A}"/>
              </a:ext>
            </a:extLst>
          </p:cNvPr>
          <p:cNvCxnSpPr/>
          <p:nvPr/>
        </p:nvCxnSpPr>
        <p:spPr>
          <a:xfrm>
            <a:off x="8373859" y="4465352"/>
            <a:ext cx="15631" cy="9241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44E508-7976-3EDB-C612-F56535D1E782}"/>
              </a:ext>
            </a:extLst>
          </p:cNvPr>
          <p:cNvSpPr/>
          <p:nvPr/>
        </p:nvSpPr>
        <p:spPr>
          <a:xfrm>
            <a:off x="1464570" y="1857782"/>
            <a:ext cx="1363784" cy="9144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Remove Duplicates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4A5C4D9-59CC-66F5-1126-621CA6E43294}"/>
              </a:ext>
            </a:extLst>
          </p:cNvPr>
          <p:cNvSpPr/>
          <p:nvPr/>
        </p:nvSpPr>
        <p:spPr>
          <a:xfrm>
            <a:off x="3109871" y="1866736"/>
            <a:ext cx="1363784" cy="90463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ea typeface="Calibri"/>
                <a:cs typeface="Calibri"/>
              </a:rPr>
              <a:t>Handle </a:t>
            </a:r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Missing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Values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108E89B-2ECF-777A-095E-4DFFF1B4804A}"/>
              </a:ext>
            </a:extLst>
          </p:cNvPr>
          <p:cNvSpPr/>
          <p:nvPr/>
        </p:nvSpPr>
        <p:spPr>
          <a:xfrm>
            <a:off x="5407270" y="1902557"/>
            <a:ext cx="1373553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Business Rules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C3B0C6-101F-8C9F-DB83-1F8B90960E4F}"/>
              </a:ext>
            </a:extLst>
          </p:cNvPr>
          <p:cNvSpPr/>
          <p:nvPr/>
        </p:nvSpPr>
        <p:spPr>
          <a:xfrm>
            <a:off x="6967903" y="1901743"/>
            <a:ext cx="1354015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Constrains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75CB25-100C-0191-8BB1-D296945CC02A}"/>
              </a:ext>
            </a:extLst>
          </p:cNvPr>
          <p:cNvCxnSpPr/>
          <p:nvPr/>
        </p:nvCxnSpPr>
        <p:spPr>
          <a:xfrm>
            <a:off x="2167954" y="3218147"/>
            <a:ext cx="1608016" cy="5863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2BC6F63-414B-3A10-22BC-825E82EDBB06}"/>
              </a:ext>
            </a:extLst>
          </p:cNvPr>
          <p:cNvCxnSpPr/>
          <p:nvPr/>
        </p:nvCxnSpPr>
        <p:spPr>
          <a:xfrm flipH="1" flipV="1">
            <a:off x="2142881" y="2761599"/>
            <a:ext cx="3907" cy="4728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A6CAFA5-8EDA-9979-3000-2BB37E7EEEA2}"/>
              </a:ext>
            </a:extLst>
          </p:cNvPr>
          <p:cNvCxnSpPr/>
          <p:nvPr/>
        </p:nvCxnSpPr>
        <p:spPr>
          <a:xfrm flipV="1">
            <a:off x="3788832" y="2798235"/>
            <a:ext cx="15632" cy="7268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84EF62-049E-3F83-26FF-E464871C8581}"/>
              </a:ext>
            </a:extLst>
          </p:cNvPr>
          <p:cNvCxnSpPr/>
          <p:nvPr/>
        </p:nvCxnSpPr>
        <p:spPr>
          <a:xfrm flipH="1" flipV="1">
            <a:off x="6083952" y="2820215"/>
            <a:ext cx="13675" cy="7170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8C2559-B8B2-0A39-CCA8-43E653EC40D3}"/>
              </a:ext>
            </a:extLst>
          </p:cNvPr>
          <p:cNvCxnSpPr/>
          <p:nvPr/>
        </p:nvCxnSpPr>
        <p:spPr>
          <a:xfrm flipV="1">
            <a:off x="6118795" y="3224822"/>
            <a:ext cx="1520090" cy="3906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4C10D05-2B1C-75F1-F4AF-7538B58072E5}"/>
              </a:ext>
            </a:extLst>
          </p:cNvPr>
          <p:cNvCxnSpPr/>
          <p:nvPr/>
        </p:nvCxnSpPr>
        <p:spPr>
          <a:xfrm flipH="1" flipV="1">
            <a:off x="7642956" y="2805560"/>
            <a:ext cx="3907" cy="4337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48565" y="441972"/>
            <a:ext cx="2896918" cy="633507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L="12700">
              <a:spcBef>
                <a:spcPts val="140"/>
              </a:spcBef>
            </a:pPr>
            <a:r>
              <a:rPr>
                <a:latin typeface="Calibri"/>
                <a:ea typeface="Calibri"/>
                <a:cs typeface="Calibri"/>
              </a:rPr>
              <a:t>MODULE</a:t>
            </a:r>
            <a:r>
              <a:rPr lang="en-US">
                <a:latin typeface="Calibri"/>
                <a:ea typeface="Calibri"/>
                <a:cs typeface="Calibri"/>
              </a:rPr>
              <a:t> - </a:t>
            </a:r>
            <a:r>
              <a:rPr dirty="0">
                <a:latin typeface="Calibri"/>
                <a:ea typeface="Calibri"/>
                <a:cs typeface="Calibri"/>
              </a:rPr>
              <a:t>1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166" y="1711190"/>
            <a:ext cx="10947301" cy="4352474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L="483870" algn="ctr">
              <a:spcBef>
                <a:spcPts val="140"/>
              </a:spcBef>
            </a:pPr>
            <a:r>
              <a:rPr lang="en-US" sz="3600" b="1"/>
              <a:t>Environment Setup &amp; Data Acquisition    </a:t>
            </a:r>
            <a:endParaRPr lang="en-US" sz="3600" b="1">
              <a:solidFill>
                <a:srgbClr val="000000"/>
              </a:solidFill>
            </a:endParaRPr>
          </a:p>
          <a:p>
            <a:pPr marL="483870" algn="ctr">
              <a:spcBef>
                <a:spcPts val="140"/>
              </a:spcBef>
            </a:pPr>
            <a:endParaRPr lang="en-US" sz="3200" dirty="0">
              <a:solidFill>
                <a:srgbClr val="000000"/>
              </a:solidFill>
            </a:endParaRPr>
          </a:p>
          <a:p>
            <a:pPr marL="342900" indent="-342900" algn="l"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Establishes a reproducible Python environment (</a:t>
            </a:r>
            <a:r>
              <a:rPr lang="en-US" sz="2400" dirty="0" err="1">
                <a:solidFill>
                  <a:srgbClr val="000000"/>
                </a:solidFill>
              </a:rPr>
              <a:t>venv</a:t>
            </a:r>
            <a:r>
              <a:rPr lang="en-US" sz="2400" dirty="0">
                <a:solidFill>
                  <a:srgbClr val="000000"/>
                </a:solidFill>
              </a:rPr>
              <a:t>/</a:t>
            </a:r>
            <a:r>
              <a:rPr lang="en-US" sz="2400" dirty="0" err="1">
                <a:solidFill>
                  <a:srgbClr val="000000"/>
                </a:solidFill>
              </a:rPr>
              <a:t>conda</a:t>
            </a:r>
            <a:r>
              <a:rPr lang="en-US" sz="2400" dirty="0">
                <a:solidFill>
                  <a:srgbClr val="000000"/>
                </a:solidFill>
              </a:rPr>
              <a:t> + core libraries).</a:t>
            </a:r>
            <a:endParaRPr lang="en-US" sz="2400" dirty="0"/>
          </a:p>
          <a:p>
            <a:pPr marL="342900" indent="-342900" algn="l"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342900" indent="-342900" algn="l">
              <a:buChar char="•"/>
            </a:pPr>
            <a:r>
              <a:rPr lang="en-US" sz="2400">
                <a:solidFill>
                  <a:srgbClr val="000000"/>
                </a:solidFill>
              </a:rPr>
              <a:t>Focuses on programmatic data acquisition, not manual downloads, so the process can be repeated.</a:t>
            </a:r>
            <a:endParaRPr lang="en-US" sz="2400"/>
          </a:p>
          <a:p>
            <a:pPr marL="342900" indent="-342900" algn="l"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342900" indent="-342900" algn="l">
              <a:buChar char="•"/>
            </a:pPr>
            <a:r>
              <a:rPr lang="en-US" sz="2400">
                <a:solidFill>
                  <a:srgbClr val="000000"/>
                </a:solidFill>
              </a:rPr>
              <a:t>Involves initial, lightweight inspection only — no cleaning yet.</a:t>
            </a:r>
            <a:endParaRPr lang="en-US" sz="2400"/>
          </a:p>
          <a:p>
            <a:pPr marL="342900" indent="-342900" algn="l"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342900" indent="-342900" algn="l">
              <a:buChar char="•"/>
            </a:pPr>
            <a:r>
              <a:rPr lang="en-US" sz="2400">
                <a:solidFill>
                  <a:srgbClr val="000000"/>
                </a:solidFill>
              </a:rPr>
              <a:t>Output is raw, unmodified data stored separately from cleaned data.</a:t>
            </a:r>
            <a:endParaRPr lang="en-US" sz="2400"/>
          </a:p>
          <a:p>
            <a:pPr marL="483870" algn="l">
              <a:spcBef>
                <a:spcPts val="140"/>
              </a:spcBef>
            </a:pPr>
            <a:endParaRPr lang="en-US" sz="3200" dirty="0">
              <a:solidFill>
                <a:srgbClr val="000000"/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3761" y="93699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8EFC4C7-382A-532D-A06B-E1BC403C1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37" y="0"/>
            <a:ext cx="7471691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5D24E3-C07F-3159-DC9D-4F8F810A0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427" y="-4137"/>
            <a:ext cx="6502400" cy="22193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1B00FD-1242-ED0E-F557-78DE1D8F2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154" y="2103891"/>
            <a:ext cx="4857750" cy="363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7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04016" y="449732"/>
            <a:ext cx="2750380" cy="633507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L="12700">
              <a:spcBef>
                <a:spcPts val="140"/>
              </a:spcBef>
            </a:pPr>
            <a:r>
              <a:rPr>
                <a:latin typeface="Calibri"/>
                <a:ea typeface="Calibri"/>
                <a:cs typeface="Calibri"/>
              </a:rPr>
              <a:t>MODULE</a:t>
            </a:r>
            <a:r>
              <a:rPr lang="en-US" spc="120">
                <a:latin typeface="Calibri"/>
                <a:ea typeface="Calibri"/>
                <a:cs typeface="Calibri"/>
              </a:rPr>
              <a:t> -</a:t>
            </a:r>
            <a:r>
              <a:rPr lang="en-US" spc="120" dirty="0">
                <a:latin typeface="Calibri"/>
                <a:ea typeface="Calibri"/>
                <a:cs typeface="Calibri"/>
              </a:rPr>
              <a:t> </a:t>
            </a:r>
            <a:r>
              <a:rPr spc="-50" dirty="0">
                <a:latin typeface="Calibri"/>
                <a:ea typeface="Calibri"/>
                <a:cs typeface="Calibri"/>
              </a:rPr>
              <a:t>2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39" y="1821336"/>
            <a:ext cx="11047632" cy="4567917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L="441325" algn="ctr">
              <a:spcBef>
                <a:spcPts val="140"/>
              </a:spcBef>
            </a:pPr>
            <a:r>
              <a:rPr lang="en-US" sz="3600" b="1" spc="-10"/>
              <a:t>Data Quality Assessment       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441325" algn="ctr">
              <a:spcBef>
                <a:spcPts val="140"/>
              </a:spcBef>
            </a:pPr>
            <a:endParaRPr lang="en-US" sz="3600" b="1" spc="-10" dirty="0">
              <a:solidFill>
                <a:srgbClr val="000000"/>
              </a:solidFill>
            </a:endParaRPr>
          </a:p>
          <a:p>
            <a:pPr marL="342900" indent="-342900" algn="l">
              <a:buChar char="•"/>
            </a:pPr>
            <a:r>
              <a:rPr lang="en-US" sz="2400" spc="-10">
                <a:solidFill>
                  <a:srgbClr val="000000"/>
                </a:solidFill>
              </a:rPr>
              <a:t>Purely diagnostic — no data is changed in this module.</a:t>
            </a:r>
            <a:endParaRPr lang="en-US"/>
          </a:p>
          <a:p>
            <a:pPr marL="342900" indent="-342900" algn="l">
              <a:buChar char="•"/>
            </a:pPr>
            <a:endParaRPr lang="en-US" spc="-10" dirty="0">
              <a:solidFill>
                <a:srgbClr val="000000"/>
              </a:solidFill>
            </a:endParaRPr>
          </a:p>
          <a:p>
            <a:pPr marL="342900" indent="-342900" algn="l">
              <a:buChar char="•"/>
            </a:pPr>
            <a:r>
              <a:rPr lang="en-US" sz="2400" spc="-10">
                <a:solidFill>
                  <a:srgbClr val="000000"/>
                </a:solidFill>
              </a:rPr>
              <a:t>Covers four key issue types: missing values, duplicates, formatting inconsistencies, outliers.</a:t>
            </a:r>
            <a:endParaRPr lang="en-US"/>
          </a:p>
          <a:p>
            <a:pPr marL="342900" indent="-342900" algn="l">
              <a:buChar char="•"/>
            </a:pPr>
            <a:endParaRPr lang="en-US" spc="-10" dirty="0">
              <a:solidFill>
                <a:srgbClr val="000000"/>
              </a:solidFill>
            </a:endParaRPr>
          </a:p>
          <a:p>
            <a:pPr marL="342900" indent="-342900" algn="l">
              <a:buChar char="•"/>
            </a:pPr>
            <a:r>
              <a:rPr lang="en-US" sz="2400" spc="-10">
                <a:solidFill>
                  <a:srgbClr val="000000"/>
                </a:solidFill>
              </a:rPr>
              <a:t>Uses visualizations (heatmaps, boxplots) to make issues easy to communicate.</a:t>
            </a:r>
            <a:endParaRPr lang="en-US"/>
          </a:p>
          <a:p>
            <a:pPr marL="342900" indent="-342900" algn="l">
              <a:buChar char="•"/>
            </a:pPr>
            <a:endParaRPr lang="en-US" spc="-10" dirty="0">
              <a:solidFill>
                <a:srgbClr val="000000"/>
              </a:solidFill>
            </a:endParaRPr>
          </a:p>
          <a:p>
            <a:pPr marL="342900" indent="-342900" algn="l">
              <a:buChar char="•"/>
            </a:pPr>
            <a:r>
              <a:rPr lang="en-US" sz="2400" spc="-10">
                <a:solidFill>
                  <a:srgbClr val="000000"/>
                </a:solidFill>
              </a:rPr>
              <a:t>Produces a documented "data quality report" that justifies later cleaning decisions.</a:t>
            </a:r>
            <a:endParaRPr lang="en-US"/>
          </a:p>
          <a:p>
            <a:pPr marL="441325" algn="l">
              <a:spcBef>
                <a:spcPts val="140"/>
              </a:spcBef>
            </a:pPr>
            <a:endParaRPr lang="en-US" sz="2400" b="1" spc="-10" dirty="0">
              <a:solidFill>
                <a:srgbClr val="000000"/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3761" y="93699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D1D852-F411-8393-C42F-C6111BC3C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61" y="951484"/>
            <a:ext cx="8098693" cy="4105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B83AA4-01A3-74D9-0121-07B3FC8ACC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5"/>
          <a:stretch>
            <a:fillRect/>
          </a:stretch>
        </p:blipFill>
        <p:spPr>
          <a:xfrm>
            <a:off x="7911489" y="-1587"/>
            <a:ext cx="4279655" cy="677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43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B93E92-B9F9-85B8-BEC8-8AD5F29181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7" b="643"/>
          <a:stretch>
            <a:fillRect/>
          </a:stretch>
        </p:blipFill>
        <p:spPr>
          <a:xfrm>
            <a:off x="1975908" y="3427413"/>
            <a:ext cx="4123223" cy="3283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83C82B-B251-A657-AA64-E5A1C0CE30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545"/>
          <a:stretch>
            <a:fillRect/>
          </a:stretch>
        </p:blipFill>
        <p:spPr>
          <a:xfrm>
            <a:off x="6190721" y="3431117"/>
            <a:ext cx="3916955" cy="327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B15585-DD74-897E-C10E-BC058CA34A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7" b="324"/>
          <a:stretch>
            <a:fillRect/>
          </a:stretch>
        </p:blipFill>
        <p:spPr>
          <a:xfrm>
            <a:off x="1252538" y="82021"/>
            <a:ext cx="9866828" cy="327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9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38522" y="271763"/>
            <a:ext cx="2789456" cy="633507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L="12700">
              <a:spcBef>
                <a:spcPts val="140"/>
              </a:spcBef>
            </a:pPr>
            <a:r>
              <a:rPr>
                <a:latin typeface="Calibri"/>
                <a:ea typeface="Calibri"/>
                <a:cs typeface="Calibri"/>
              </a:rPr>
              <a:t>MODULE</a:t>
            </a:r>
            <a:r>
              <a:rPr lang="en-US" spc="120">
                <a:latin typeface="Calibri"/>
                <a:ea typeface="Calibri"/>
                <a:cs typeface="Calibri"/>
              </a:rPr>
              <a:t> -</a:t>
            </a:r>
            <a:r>
              <a:rPr lang="en-US" spc="120" dirty="0">
                <a:latin typeface="Calibri"/>
                <a:ea typeface="Calibri"/>
                <a:cs typeface="Calibri"/>
              </a:rPr>
              <a:t> </a:t>
            </a:r>
            <a:r>
              <a:rPr spc="-50" dirty="0">
                <a:latin typeface="Calibri"/>
                <a:ea typeface="Calibri"/>
                <a:cs typeface="Calibri"/>
              </a:rPr>
              <a:t>3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1234" y="1637658"/>
            <a:ext cx="11041184" cy="4950073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L="427990" algn="ctr">
              <a:spcBef>
                <a:spcPts val="140"/>
              </a:spcBef>
            </a:pPr>
            <a:r>
              <a:rPr lang="en-US" sz="3600" b="1" spc="-10"/>
              <a:t>  Data Cleaning              </a:t>
            </a:r>
            <a:endParaRPr sz="3600" b="1"/>
          </a:p>
          <a:p>
            <a:pPr marL="427990" algn="ctr">
              <a:spcBef>
                <a:spcPts val="140"/>
              </a:spcBef>
              <a:tabLst>
                <a:tab pos="194310" algn="l"/>
              </a:tabLst>
            </a:pPr>
            <a:endParaRPr lang="en-US" sz="3600" b="1" spc="-10" dirty="0"/>
          </a:p>
          <a:p>
            <a:pPr marL="342900" indent="-342900" algn="l">
              <a:buChar char="•"/>
              <a:tabLst>
                <a:tab pos="194310" algn="l"/>
              </a:tabLst>
            </a:pPr>
            <a:r>
              <a:rPr lang="en-US" sz="2400" spc="-10"/>
              <a:t>The core technical module — directly addresses every issue found in Module 2.</a:t>
            </a:r>
            <a:endParaRPr lang="en-US" sz="2400"/>
          </a:p>
          <a:p>
            <a:pPr marL="342900" indent="-342900" algn="l">
              <a:buChar char="•"/>
              <a:tabLst>
                <a:tab pos="194310" algn="l"/>
              </a:tabLst>
            </a:pPr>
            <a:endParaRPr lang="en-US" spc="-10" dirty="0"/>
          </a:p>
          <a:p>
            <a:pPr marL="342900" indent="-342900" algn="l">
              <a:buChar char="•"/>
              <a:tabLst>
                <a:tab pos="194310" algn="l"/>
              </a:tabLst>
            </a:pPr>
            <a:r>
              <a:rPr lang="en-US" sz="2400" spc="-10"/>
              <a:t>Emphasizes reusable functions over one-off notebook fixes, so cleaning logic can run on new data.</a:t>
            </a:r>
            <a:endParaRPr lang="en-US" sz="2400"/>
          </a:p>
          <a:p>
            <a:pPr marL="342900" indent="-342900" algn="l">
              <a:buChar char="•"/>
              <a:tabLst>
                <a:tab pos="194310" algn="l"/>
              </a:tabLst>
            </a:pPr>
            <a:endParaRPr lang="en-US" spc="-10" dirty="0"/>
          </a:p>
          <a:p>
            <a:pPr marL="342900" indent="-342900" algn="l">
              <a:buChar char="•"/>
              <a:tabLst>
                <a:tab pos="194310" algn="l"/>
              </a:tabLst>
            </a:pPr>
            <a:r>
              <a:rPr lang="en-US" sz="2400" spc="-10"/>
              <a:t>Requires justifying each cleaning decision (why impute vs. drop, why cap vs. remove outliers).</a:t>
            </a:r>
            <a:endParaRPr lang="en-US" sz="2400"/>
          </a:p>
          <a:p>
            <a:pPr marL="342900" indent="-342900" algn="l">
              <a:buChar char="•"/>
              <a:tabLst>
                <a:tab pos="194310" algn="l"/>
              </a:tabLst>
            </a:pPr>
            <a:endParaRPr lang="en-US" spc="-10" dirty="0"/>
          </a:p>
          <a:p>
            <a:pPr marL="342900" indent="-342900" algn="l">
              <a:buChar char="•"/>
              <a:tabLst>
                <a:tab pos="194310" algn="l"/>
              </a:tabLst>
            </a:pPr>
            <a:r>
              <a:rPr lang="en-US" sz="2400" spc="-10"/>
              <a:t>Produces a clean, analysis-ready dataset as a separate file from the raw one.</a:t>
            </a:r>
            <a:endParaRPr lang="en-US" sz="2400"/>
          </a:p>
          <a:p>
            <a:pPr marL="427990" algn="l">
              <a:spcBef>
                <a:spcPts val="140"/>
              </a:spcBef>
              <a:tabLst>
                <a:tab pos="194310" algn="l"/>
              </a:tabLst>
            </a:pPr>
            <a:endParaRPr lang="en-US" sz="2400" b="1" spc="-10" dirty="0"/>
          </a:p>
          <a:p>
            <a:pPr marL="427990" algn="ctr">
              <a:spcBef>
                <a:spcPts val="140"/>
              </a:spcBef>
              <a:tabLst>
                <a:tab pos="194310" algn="l"/>
              </a:tabLst>
            </a:pPr>
            <a:endParaRPr lang="en-US" sz="2400">
              <a:latin typeface="Calibri"/>
              <a:ea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3761" y="93699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914B17-80D0-0F3B-388A-66CBC61E9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133"/>
            <a:ext cx="12192000" cy="523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81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1DBD4E-EBA2-655C-B6B8-6C36A6413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208085"/>
            <a:ext cx="8172450" cy="480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5235C1-2B53-22B0-9CD5-BE992A1C7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88" y="5162673"/>
            <a:ext cx="74390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41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04060" y="447611"/>
            <a:ext cx="3180226" cy="633507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L="12700">
              <a:spcBef>
                <a:spcPts val="140"/>
              </a:spcBef>
            </a:pPr>
            <a:r>
              <a:rPr>
                <a:latin typeface="Calibri"/>
                <a:ea typeface="Calibri"/>
                <a:cs typeface="Calibri"/>
              </a:rPr>
              <a:t>MODULE</a:t>
            </a:r>
            <a:r>
              <a:rPr lang="en-US" spc="120">
                <a:latin typeface="Calibri"/>
                <a:ea typeface="Calibri"/>
                <a:cs typeface="Calibri"/>
              </a:rPr>
              <a:t> - </a:t>
            </a:r>
            <a:r>
              <a:rPr spc="-50" dirty="0">
                <a:latin typeface="Calibri"/>
                <a:ea typeface="Calibri"/>
                <a:cs typeface="Calibri"/>
              </a:rPr>
              <a:t>4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3761" y="93699"/>
            <a:ext cx="1520113" cy="13428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1681" y="1500888"/>
            <a:ext cx="10276204" cy="5145864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L="302895" algn="ctr">
              <a:spcBef>
                <a:spcPts val="140"/>
              </a:spcBef>
            </a:pPr>
            <a:r>
              <a:rPr lang="en-US" sz="3600" b="1" spc="-10"/>
              <a:t>Exploratory Data Analysis (EDA) &amp; Transformation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02895" algn="ctr">
              <a:spcBef>
                <a:spcPts val="140"/>
              </a:spcBef>
            </a:pPr>
            <a:endParaRPr lang="en-US" sz="3600" b="1" spc="-10" dirty="0"/>
          </a:p>
          <a:p>
            <a:pPr marL="342900" indent="-342900" algn="l">
              <a:buChar char="•"/>
            </a:pPr>
            <a:r>
              <a:rPr lang="en-US" sz="2400" spc="-10"/>
              <a:t>Shifts from "fixing" data to "understanding" data.</a:t>
            </a:r>
            <a:endParaRPr lang="en-US"/>
          </a:p>
          <a:p>
            <a:pPr marL="342900" indent="-342900" algn="l">
              <a:buChar char="•"/>
            </a:pPr>
            <a:endParaRPr lang="en-US" spc="-10" dirty="0"/>
          </a:p>
          <a:p>
            <a:pPr marL="342900" indent="-342900" algn="l">
              <a:buChar char="•"/>
            </a:pPr>
            <a:r>
              <a:rPr lang="en-US" sz="2400" spc="-10"/>
              <a:t>Combines statistical summaries with visual analysis (univariate, bivariate, multivariate).</a:t>
            </a:r>
            <a:endParaRPr lang="en-US"/>
          </a:p>
          <a:p>
            <a:pPr marL="342900" indent="-342900" algn="l">
              <a:buChar char="•"/>
            </a:pPr>
            <a:endParaRPr lang="en-US" spc="-10" dirty="0"/>
          </a:p>
          <a:p>
            <a:pPr marL="342900" indent="-342900" algn="l">
              <a:buChar char="•"/>
            </a:pPr>
            <a:r>
              <a:rPr lang="en-US" sz="2400" spc="-10"/>
              <a:t>May include feature engineering (new columns, encodings, bins) to support analysis.</a:t>
            </a:r>
            <a:endParaRPr lang="en-US"/>
          </a:p>
          <a:p>
            <a:pPr marL="342900" indent="-342900" algn="l">
              <a:buChar char="•"/>
            </a:pPr>
            <a:endParaRPr lang="en-US" spc="-10" dirty="0"/>
          </a:p>
          <a:p>
            <a:pPr marL="342900" indent="-342900" algn="l">
              <a:buChar char="•"/>
            </a:pPr>
            <a:r>
              <a:rPr lang="en-US" sz="2400" spc="-10" dirty="0"/>
              <a:t>Ends with a concrete </a:t>
            </a:r>
            <a:r>
              <a:rPr lang="en-US" sz="2400" spc="-10" dirty="0" err="1"/>
              <a:t>insights</a:t>
            </a:r>
            <a:r>
              <a:rPr lang="en-US" sz="2400" spc="-10" dirty="0"/>
              <a:t> summary, not just charts.</a:t>
            </a:r>
            <a:endParaRPr lang="en-US" dirty="0"/>
          </a:p>
          <a:p>
            <a:pPr marL="302895" algn="l">
              <a:spcBef>
                <a:spcPts val="140"/>
              </a:spcBef>
            </a:pPr>
            <a:endParaRPr lang="en-US" sz="2400" b="1" spc="-1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6166D3-5D5E-12BE-CE2E-13F20BFC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33" y="361950"/>
            <a:ext cx="7924800" cy="518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44506-426E-370F-8227-B1A5CC205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088" y="641879"/>
            <a:ext cx="526732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37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2959FC-9CF2-C2AB-7063-858DD79DB6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63"/>
          <a:stretch>
            <a:fillRect/>
          </a:stretch>
        </p:blipFill>
        <p:spPr>
          <a:xfrm>
            <a:off x="2078404" y="3507114"/>
            <a:ext cx="8035204" cy="3254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D2D9C7-362C-6CEF-59CA-65BD1D783A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9" b="-333"/>
          <a:stretch>
            <a:fillRect/>
          </a:stretch>
        </p:blipFill>
        <p:spPr>
          <a:xfrm>
            <a:off x="2729441" y="-3175"/>
            <a:ext cx="6944761" cy="352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30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77599" y="447610"/>
            <a:ext cx="3111841" cy="633507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L="12700">
              <a:spcBef>
                <a:spcPts val="140"/>
              </a:spcBef>
            </a:pPr>
            <a:r>
              <a:rPr>
                <a:latin typeface="Calibri"/>
                <a:ea typeface="Calibri"/>
                <a:cs typeface="Calibri"/>
              </a:rPr>
              <a:t>MODULE</a:t>
            </a:r>
            <a:r>
              <a:rPr lang="en-US" spc="120" dirty="0">
                <a:latin typeface="Calibri"/>
                <a:ea typeface="Calibri"/>
                <a:cs typeface="Calibri"/>
              </a:rPr>
              <a:t> </a:t>
            </a:r>
            <a:r>
              <a:rPr lang="en-US" spc="120">
                <a:latin typeface="Calibri"/>
                <a:ea typeface="Calibri"/>
                <a:cs typeface="Calibri"/>
              </a:rPr>
              <a:t>-</a:t>
            </a:r>
            <a:r>
              <a:rPr lang="en-US" spc="120" dirty="0">
                <a:latin typeface="Calibri"/>
                <a:ea typeface="Calibri"/>
                <a:cs typeface="Calibri"/>
              </a:rPr>
              <a:t> </a:t>
            </a:r>
            <a:r>
              <a:rPr spc="-50" dirty="0">
                <a:latin typeface="Calibri"/>
                <a:ea typeface="Calibri"/>
                <a:cs typeface="Calibri"/>
              </a:rPr>
              <a:t>5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6407" y="93699"/>
            <a:ext cx="1520113" cy="13428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7220" y="1539966"/>
            <a:ext cx="10418054" cy="4567917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R="170815" algn="ctr">
              <a:spcBef>
                <a:spcPts val="140"/>
              </a:spcBef>
            </a:pPr>
            <a:r>
              <a:rPr lang="en-US" sz="3600" b="1" spc="-10">
                <a:latin typeface="Calibri"/>
                <a:ea typeface="Calibri"/>
                <a:cs typeface="Calibri"/>
              </a:rPr>
              <a:t>Pipeline Automation &amp; Reporting</a:t>
            </a:r>
            <a:endParaRPr lang="en-US" sz="3600" b="1">
              <a:latin typeface="Calibri"/>
              <a:ea typeface="Calibri"/>
              <a:cs typeface="Calibri"/>
            </a:endParaRPr>
          </a:p>
          <a:p>
            <a:pPr marR="170815" algn="ctr">
              <a:spcBef>
                <a:spcPts val="140"/>
              </a:spcBef>
              <a:tabLst>
                <a:tab pos="119380" algn="l"/>
              </a:tabLst>
            </a:pPr>
            <a:endParaRPr sz="3600" dirty="0">
              <a:latin typeface="Times New Roman"/>
              <a:cs typeface="Times New Roman"/>
            </a:endParaRPr>
          </a:p>
          <a:p>
            <a:pPr marL="342900" indent="-342900" algn="l">
              <a:buChar char="•"/>
              <a:tabLst>
                <a:tab pos="119380" algn="l"/>
              </a:tabLst>
            </a:pPr>
            <a:r>
              <a:rPr lang="en-US" sz="2400"/>
              <a:t>Integrates Modules 1–4 into a single, automated, end-to-end script.</a:t>
            </a:r>
            <a:endParaRPr lang="en-US"/>
          </a:p>
          <a:p>
            <a:pPr marL="342900" indent="-342900" algn="l">
              <a:buChar char="•"/>
              <a:tabLst>
                <a:tab pos="119380" algn="l"/>
              </a:tabLst>
            </a:pPr>
            <a:endParaRPr lang="en-US" dirty="0"/>
          </a:p>
          <a:p>
            <a:pPr marL="342900" indent="-342900" algn="l">
              <a:buChar char="•"/>
              <a:tabLst>
                <a:tab pos="119380" algn="l"/>
              </a:tabLst>
            </a:pPr>
            <a:r>
              <a:rPr lang="en-US" sz="2400"/>
              <a:t>Adds production-quality practices: logging, error handling, optional CLI.</a:t>
            </a:r>
            <a:endParaRPr lang="en-US"/>
          </a:p>
          <a:p>
            <a:pPr marL="342900" indent="-342900" algn="l">
              <a:buChar char="•"/>
              <a:tabLst>
                <a:tab pos="119380" algn="l"/>
              </a:tabLst>
            </a:pPr>
            <a:endParaRPr lang="en-US" dirty="0"/>
          </a:p>
          <a:p>
            <a:pPr marL="342900" indent="-342900" algn="l">
              <a:buChar char="•"/>
              <a:tabLst>
                <a:tab pos="119380" algn="l"/>
              </a:tabLst>
            </a:pPr>
            <a:r>
              <a:rPr lang="en-US" sz="2400"/>
              <a:t>Generates an automated report/output, making the pipeline reusable on any new CSV.</a:t>
            </a:r>
            <a:endParaRPr lang="en-US"/>
          </a:p>
          <a:p>
            <a:pPr marL="342900" indent="-342900" algn="l">
              <a:buChar char="•"/>
              <a:tabLst>
                <a:tab pos="119380" algn="l"/>
              </a:tabLst>
            </a:pPr>
            <a:endParaRPr lang="en-US" dirty="0"/>
          </a:p>
          <a:p>
            <a:pPr marL="342900" indent="-342900" algn="l">
              <a:buChar char="•"/>
              <a:tabLst>
                <a:tab pos="119380" algn="l"/>
              </a:tabLst>
            </a:pPr>
            <a:r>
              <a:rPr lang="en-US" sz="2400"/>
              <a:t>Final deliverable ties technical work to communication — README + presentation.</a:t>
            </a:r>
            <a:endParaRPr lang="en-US"/>
          </a:p>
          <a:p>
            <a:pPr marR="170815" algn="l">
              <a:spcBef>
                <a:spcPts val="140"/>
              </a:spcBef>
              <a:tabLst>
                <a:tab pos="119380" algn="l"/>
              </a:tabLst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35C4B9-FC85-2D60-D59C-8135C839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2" y="0"/>
            <a:ext cx="695992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5B32D0-7842-0B04-D161-08A372E1E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358" y="568855"/>
            <a:ext cx="6743700" cy="1317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F650C0-AC1C-0E14-DA17-F6F0F23F5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551" y="2058458"/>
            <a:ext cx="5888567" cy="331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6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57563" y="446189"/>
            <a:ext cx="6271603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5" dirty="0">
                <a:latin typeface="Calibri"/>
                <a:ea typeface="Calibri"/>
                <a:cs typeface="Calibri"/>
              </a:rPr>
              <a:t>RESULTS</a:t>
            </a:r>
            <a:r>
              <a:rPr spc="-215" dirty="0">
                <a:latin typeface="Calibri"/>
                <a:ea typeface="Calibri"/>
                <a:cs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</a:rPr>
              <a:t>AND</a:t>
            </a:r>
            <a:r>
              <a:rPr lang="en-US" spc="10">
                <a:latin typeface="Calibri"/>
                <a:ea typeface="Calibri"/>
                <a:cs typeface="Calibri"/>
              </a:rPr>
              <a:t> COMPARISON</a:t>
            </a:r>
            <a:endParaRPr lang="en-US" spc="-2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0303" y="1432978"/>
            <a:ext cx="11824284" cy="5420677"/>
          </a:xfrm>
          <a:prstGeom prst="rect">
            <a:avLst/>
          </a:prstGeom>
        </p:spPr>
        <p:txBody>
          <a:bodyPr vert="horz" wrap="square" lIns="0" tIns="59055" rIns="0" bIns="0" rtlCol="0" anchor="t">
            <a:spAutoFit/>
          </a:bodyPr>
          <a:lstStyle/>
          <a:p>
            <a:pPr marL="12700" algn="l">
              <a:spcBef>
                <a:spcPts val="465"/>
              </a:spcBef>
            </a:pPr>
            <a:r>
              <a:rPr lang="en-US" sz="2400" b="1" spc="-10">
                <a:latin typeface="Calibri"/>
                <a:ea typeface="Calibri"/>
                <a:cs typeface="Calibri"/>
              </a:rPr>
              <a:t>Results:</a:t>
            </a:r>
            <a:endParaRPr lang="en-US">
              <a:solidFill>
                <a:srgbClr val="000000"/>
              </a:solidFill>
            </a:endParaRPr>
          </a:p>
          <a:p>
            <a:pPr marL="355600" indent="-342900" algn="l">
              <a:spcBef>
                <a:spcPts val="465"/>
              </a:spcBef>
              <a:buFont typeface="Arial"/>
              <a:buChar char="•"/>
            </a:pPr>
            <a:r>
              <a:rPr lang="en-US" spc="-10">
                <a:solidFill>
                  <a:srgbClr val="000000"/>
                </a:solidFill>
              </a:rPr>
              <a:t>Raw dataset successfully acquired — report rows, columns, file size.</a:t>
            </a:r>
            <a:endParaRPr lang="en-US"/>
          </a:p>
          <a:p>
            <a:pPr marL="355600" indent="-342900" algn="l">
              <a:spcBef>
                <a:spcPts val="465"/>
              </a:spcBef>
              <a:buFont typeface="Arial"/>
              <a:buChar char="•"/>
            </a:pPr>
            <a:r>
              <a:rPr lang="en-US" spc="-10">
                <a:solidFill>
                  <a:srgbClr val="000000"/>
                </a:solidFill>
              </a:rPr>
              <a:t>Quantify issues found — e.g., "X% missing values in column Y", "Z duplicate rows", "N outliers detected in column A".</a:t>
            </a:r>
          </a:p>
          <a:p>
            <a:pPr marL="355600" indent="-342900" algn="l">
              <a:spcBef>
                <a:spcPts val="465"/>
              </a:spcBef>
              <a:buFont typeface="Arial"/>
              <a:buChar char="•"/>
            </a:pPr>
            <a:r>
              <a:rPr lang="en-US" spc="-10">
                <a:solidFill>
                  <a:srgbClr val="000000"/>
                </a:solidFill>
              </a:rPr>
              <a:t>Report metrics before → after — e.g., missing values: 12% → 0%, duplicates: 340 → 0, rows retained: 98%.</a:t>
            </a:r>
          </a:p>
          <a:p>
            <a:pPr marL="355600" indent="-342900" algn="l">
              <a:spcBef>
                <a:spcPts val="465"/>
              </a:spcBef>
              <a:buFont typeface="Arial"/>
              <a:buChar char="•"/>
            </a:pPr>
            <a:r>
              <a:rPr lang="en-US" spc="-10">
                <a:solidFill>
                  <a:srgbClr val="000000"/>
                </a:solidFill>
              </a:rPr>
              <a:t>Key statistical findings — top correlations, notable trends, group differences (e.g., "Category X has 2x higher average than Category Y").</a:t>
            </a:r>
          </a:p>
          <a:p>
            <a:pPr marL="355600" indent="-342900" algn="l">
              <a:spcBef>
                <a:spcPts val="465"/>
              </a:spcBef>
              <a:buFont typeface="Arial"/>
              <a:buChar char="•"/>
            </a:pPr>
            <a:r>
              <a:rPr lang="en-US" spc="-10">
                <a:solidFill>
                  <a:srgbClr val="000000"/>
                </a:solidFill>
              </a:rPr>
              <a:t>Pipeline run time, success rate on new/unseen CSVs, automated report generated.</a:t>
            </a:r>
          </a:p>
          <a:p>
            <a:pPr marL="12700" algn="l">
              <a:spcBef>
                <a:spcPts val="465"/>
              </a:spcBef>
            </a:pPr>
            <a:r>
              <a:rPr lang="en-US" sz="2400" b="1" spc="-10">
                <a:solidFill>
                  <a:srgbClr val="000000"/>
                </a:solidFill>
              </a:rPr>
              <a:t>Comparison</a:t>
            </a:r>
          </a:p>
          <a:p>
            <a:pPr marL="355600" indent="-342900" algn="l">
              <a:spcBef>
                <a:spcPts val="465"/>
              </a:spcBef>
              <a:buFont typeface="Arial"/>
              <a:buChar char="•"/>
            </a:pPr>
            <a:r>
              <a:rPr lang="en-US" spc="-10">
                <a:solidFill>
                  <a:srgbClr val="000000"/>
                </a:solidFill>
              </a:rPr>
              <a:t>Manual download vs. scripted fetch → scripted version is reproducible and re-runnable on schedule/on demand.</a:t>
            </a:r>
          </a:p>
          <a:p>
            <a:pPr marL="355600" indent="-342900" algn="l">
              <a:spcBef>
                <a:spcPts val="465"/>
              </a:spcBef>
              <a:buFont typeface="Arial"/>
              <a:buChar char="•"/>
            </a:pPr>
            <a:r>
              <a:rPr lang="en-US" spc="-10">
                <a:solidFill>
                  <a:srgbClr val="000000"/>
                </a:solidFill>
              </a:rPr>
              <a:t>Raw data profile vs. ideal/expected data profile — this gap becomes your cleaning checklist.</a:t>
            </a:r>
          </a:p>
          <a:p>
            <a:pPr marL="355600" indent="-342900" algn="l">
              <a:spcBef>
                <a:spcPts val="465"/>
              </a:spcBef>
              <a:buFont typeface="Arial"/>
              <a:buChar char="•"/>
            </a:pPr>
            <a:r>
              <a:rPr lang="en-US" spc="-10" dirty="0">
                <a:solidFill>
                  <a:srgbClr val="000000"/>
                </a:solidFill>
              </a:rPr>
              <a:t>Raw dataset vs. cleaned dataset (row count, column </a:t>
            </a:r>
            <a:r>
              <a:rPr lang="en-US" spc="-10" dirty="0" err="1">
                <a:solidFill>
                  <a:srgbClr val="000000"/>
                </a:solidFill>
              </a:rPr>
              <a:t>dtypes</a:t>
            </a:r>
            <a:r>
              <a:rPr lang="en-US" spc="-10" dirty="0">
                <a:solidFill>
                  <a:srgbClr val="000000"/>
                </a:solidFill>
              </a:rPr>
              <a:t>, memory usage) </a:t>
            </a:r>
            <a:endParaRPr lang="en-US" dirty="0">
              <a:solidFill>
                <a:srgbClr val="000000"/>
              </a:solidFill>
            </a:endParaRPr>
          </a:p>
          <a:p>
            <a:pPr marL="355600" indent="-342900" algn="l">
              <a:spcBef>
                <a:spcPts val="465"/>
              </a:spcBef>
              <a:buFont typeface="Arial"/>
              <a:buChar char="•"/>
            </a:pPr>
            <a:r>
              <a:rPr lang="en-US" spc="-10">
                <a:solidFill>
                  <a:srgbClr val="000000"/>
                </a:solidFill>
              </a:rPr>
              <a:t>Pre-cleaning insights (unreliable, skewed by bad data) vs. post-cleaning insights (accurate) — demonstrates </a:t>
            </a:r>
            <a:r>
              <a:rPr lang="en-US" i="1" spc="-10">
                <a:solidFill>
                  <a:srgbClr val="000000"/>
                </a:solidFill>
              </a:rPr>
              <a:t>why</a:t>
            </a:r>
            <a:r>
              <a:rPr lang="en-US" spc="-10" dirty="0">
                <a:solidFill>
                  <a:srgbClr val="000000"/>
                </a:solidFill>
              </a:rPr>
              <a:t> </a:t>
            </a:r>
            <a:r>
              <a:rPr lang="en-US" spc="-10">
                <a:solidFill>
                  <a:srgbClr val="000000"/>
                </a:solidFill>
              </a:rPr>
              <a:t>cleaning mattered.</a:t>
            </a:r>
            <a:endParaRPr lang="en-US"/>
          </a:p>
          <a:p>
            <a:pPr marL="355600" indent="-342900" algn="l">
              <a:spcBef>
                <a:spcPts val="465"/>
              </a:spcBef>
              <a:buFont typeface="Arial"/>
              <a:buChar char="•"/>
            </a:pPr>
            <a:r>
              <a:rPr lang="en-US" spc="-10">
                <a:solidFill>
                  <a:srgbClr val="000000"/>
                </a:solidFill>
              </a:rPr>
              <a:t>Manual step-by-step process (time-consuming, error-prone) vs. automated pipeline (fast, consistent, one-command execution) — quantify time saved if possible.</a:t>
            </a:r>
            <a:endParaRPr lang="en-US" spc="-10" dirty="0">
              <a:solidFill>
                <a:srgbClr val="00000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3761" y="93699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E614-3B1E-8CCE-D20F-8FFE6AB7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121" y="455061"/>
            <a:ext cx="7521756" cy="615553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>
                <a:latin typeface="Calibri"/>
                <a:ea typeface="Calibri"/>
                <a:cs typeface="Calibri"/>
              </a:rPr>
              <a:t>LIMITATIONS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0ED22-4365-75A3-B2D4-8D7DEE10D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9173" y="1489886"/>
            <a:ext cx="10416539" cy="5447645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>
                <a:latin typeface="Calibri"/>
                <a:ea typeface="Calibri"/>
                <a:cs typeface="Calibri"/>
              </a:rPr>
              <a:t>Limitations</a:t>
            </a:r>
          </a:p>
          <a:p>
            <a:pPr marL="285750" indent="-285750" algn="l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Dataset-specific cleaning logic</a:t>
            </a:r>
            <a:r>
              <a:rPr lang="en-US">
                <a:latin typeface="Calibri"/>
                <a:ea typeface="Calibri"/>
                <a:cs typeface="Calibri"/>
              </a:rPr>
              <a:t> — cleaning rules (e.g., outlier thresholds, imputation methods) are tailored to the chosen dataset and may not generalize well to datasets with very different structures or domains.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No handling of very large datasets</a:t>
            </a:r>
            <a:r>
              <a:rPr lang="en-US" dirty="0">
                <a:latin typeface="Calibri"/>
                <a:ea typeface="Calibri"/>
                <a:cs typeface="Calibri"/>
              </a:rPr>
              <a:t> — pandas-based pipeline works in-memory, so it may struggle with datasets too large to fit in RAM (no distributed processing like Spark/</a:t>
            </a:r>
            <a:r>
              <a:rPr lang="en-US" dirty="0" err="1">
                <a:latin typeface="Calibri"/>
                <a:ea typeface="Calibri"/>
                <a:cs typeface="Calibri"/>
              </a:rPr>
              <a:t>Dask</a:t>
            </a:r>
            <a:r>
              <a:rPr lang="en-US" dirty="0">
                <a:latin typeface="Calibri"/>
                <a:ea typeface="Calibri"/>
                <a:cs typeface="Calibri"/>
              </a:rPr>
              <a:t>).</a:t>
            </a:r>
          </a:p>
          <a:p>
            <a:pPr marL="285750" indent="-285750" algn="l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Manual justification required for cleaning decisions</a:t>
            </a:r>
            <a:r>
              <a:rPr lang="en-US">
                <a:latin typeface="Calibri"/>
                <a:ea typeface="Calibri"/>
                <a:cs typeface="Calibri"/>
              </a:rPr>
              <a:t> — choices like "drop vs. impute" or "cap vs. remove outliers" still need human judgment; the pipeline doesn't auto-decide the best strategy.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Limited to structured/tabular CSV data</a:t>
            </a:r>
            <a:r>
              <a:rPr lang="en-US">
                <a:latin typeface="Calibri"/>
                <a:ea typeface="Calibri"/>
                <a:cs typeface="Calibri"/>
              </a:rPr>
              <a:t> — doesn't handle unstructured data (text, images, JSON nesting) or semi-structured formats without extra preprocessing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algn="l"/>
            <a:r>
              <a:rPr lang="en-US" sz="2400" b="1">
                <a:latin typeface="Calibri"/>
                <a:ea typeface="Calibri"/>
                <a:cs typeface="Calibri"/>
              </a:rPr>
              <a:t>Future Scope</a:t>
            </a:r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Integrate with big data tools</a:t>
            </a:r>
            <a:r>
              <a:rPr lang="en-US" dirty="0">
                <a:latin typeface="Calibri"/>
                <a:ea typeface="Calibri"/>
                <a:cs typeface="Calibri"/>
              </a:rPr>
              <a:t> — extend pipeline to use </a:t>
            </a:r>
            <a:r>
              <a:rPr lang="en-US" dirty="0" err="1">
                <a:latin typeface="Calibri"/>
                <a:ea typeface="Calibri"/>
                <a:cs typeface="Calibri"/>
              </a:rPr>
              <a:t>PySpark</a:t>
            </a:r>
            <a:r>
              <a:rPr lang="en-US" dirty="0">
                <a:latin typeface="Calibri"/>
                <a:ea typeface="Calibri"/>
                <a:cs typeface="Calibri"/>
              </a:rPr>
              <a:t> or </a:t>
            </a:r>
            <a:r>
              <a:rPr lang="en-US" dirty="0" err="1">
                <a:latin typeface="Calibri"/>
                <a:ea typeface="Calibri"/>
                <a:cs typeface="Calibri"/>
              </a:rPr>
              <a:t>Dask</a:t>
            </a:r>
            <a:r>
              <a:rPr lang="en-US" dirty="0">
                <a:latin typeface="Calibri"/>
                <a:ea typeface="Calibri"/>
                <a:cs typeface="Calibri"/>
              </a:rPr>
              <a:t> for handling large-scale datasets beyond memory limits.</a:t>
            </a:r>
          </a:p>
          <a:p>
            <a:pPr marL="285750" indent="-285750" algn="l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Add machine learning-based cleaning</a:t>
            </a:r>
            <a:r>
              <a:rPr lang="en-US">
                <a:latin typeface="Calibri"/>
                <a:ea typeface="Calibri"/>
                <a:cs typeface="Calibri"/>
              </a:rPr>
              <a:t> — use ML models for smarter imputation (e.g., KNN imputer, regression-based) and anomaly detection (Isolation Forest, DBSCAN).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latin typeface="Calibri"/>
                <a:ea typeface="Calibri"/>
                <a:cs typeface="Calibri"/>
              </a:rPr>
              <a:t>Build a web interface/dashboard</a:t>
            </a:r>
            <a:r>
              <a:rPr lang="en-US" dirty="0">
                <a:latin typeface="Calibri"/>
                <a:ea typeface="Calibri"/>
                <a:cs typeface="Calibri"/>
              </a:rPr>
              <a:t> — wrap the pipeline in a </a:t>
            </a:r>
            <a:r>
              <a:rPr lang="en-US" dirty="0" err="1">
                <a:latin typeface="Calibri"/>
                <a:ea typeface="Calibri"/>
                <a:cs typeface="Calibri"/>
              </a:rPr>
              <a:t>Streamlit</a:t>
            </a:r>
            <a:r>
              <a:rPr lang="en-US" dirty="0">
                <a:latin typeface="Calibri"/>
                <a:ea typeface="Calibri"/>
                <a:cs typeface="Calibri"/>
              </a:rPr>
              <a:t>/Flask app so non-technical users can upload a CSV and get cleaned data + reports via UI.</a:t>
            </a:r>
          </a:p>
          <a:p>
            <a:pPr marL="285750" indent="-285750" algn="l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Support multiple file formats</a:t>
            </a:r>
            <a:r>
              <a:rPr lang="en-US">
                <a:latin typeface="Calibri"/>
                <a:ea typeface="Calibri"/>
                <a:cs typeface="Calibri"/>
              </a:rPr>
              <a:t> — extend beyond CSV to Excel, JSON, Parquet, and database connections (SQL).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object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5C6164A9-6572-F12A-6F74-BB58F71D577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7" name="object 5" descr="A blue and white logo&#10;&#10;AI-generated content may be incorrect.">
            <a:extLst>
              <a:ext uri="{FF2B5EF4-FFF2-40B4-BE49-F238E27FC236}">
                <a16:creationId xmlns:a16="http://schemas.microsoft.com/office/drawing/2014/main" id="{643D7173-A221-D431-C4C6-B24FEBFA578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6406" y="93699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74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35121" y="-4093"/>
            <a:ext cx="7521756" cy="1171432"/>
          </a:xfrm>
          <a:prstGeom prst="rect">
            <a:avLst/>
          </a:prstGeom>
        </p:spPr>
        <p:txBody>
          <a:bodyPr vert="horz" wrap="square" lIns="0" tIns="522513" rIns="0" bIns="0" rtlCol="0" anchor="t">
            <a:spAutoFit/>
          </a:bodyPr>
          <a:lstStyle/>
          <a:p>
            <a:pPr marL="2038985" algn="l">
              <a:spcBef>
                <a:spcPts val="100"/>
              </a:spcBef>
            </a:pPr>
            <a:r>
              <a:rPr lang="en-US" spc="-10">
                <a:latin typeface="Calibri"/>
                <a:ea typeface="Calibri"/>
                <a:cs typeface="Calibri"/>
              </a:rPr>
              <a:t>   </a:t>
            </a:r>
            <a:r>
              <a:rPr spc="-10">
                <a:latin typeface="Calibri"/>
                <a:ea typeface="Calibri"/>
                <a:cs typeface="Calibri"/>
              </a:rPr>
              <a:t>CONCLUSION</a:t>
            </a:r>
            <a:endParaRPr lang="en-US" spc="-10">
              <a:latin typeface="Calibri"/>
              <a:ea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9173" y="1714578"/>
            <a:ext cx="10289539" cy="4460195"/>
          </a:xfrm>
          <a:prstGeom prst="rect">
            <a:avLst/>
          </a:prstGeom>
        </p:spPr>
        <p:txBody>
          <a:bodyPr vert="horz" wrap="square" lIns="0" tIns="149860" rIns="0" bIns="0" rtlCol="0" anchor="t">
            <a:spAutoFit/>
          </a:bodyPr>
          <a:lstStyle/>
          <a:p>
            <a:pPr algn="just">
              <a:buFont typeface="Arial"/>
              <a:buChar char="•"/>
              <a:tabLst>
                <a:tab pos="265430" algn="l"/>
              </a:tabLst>
            </a:pPr>
            <a:r>
              <a:rPr lang="en-US" sz="2000" b="1" spc="-10">
                <a:latin typeface="Calibri"/>
                <a:ea typeface="Calibri"/>
                <a:cs typeface="Calibri"/>
              </a:rPr>
              <a:t>Successfully designed and implemented</a:t>
            </a:r>
            <a:r>
              <a:rPr lang="en-US" sz="2000" spc="-10">
                <a:latin typeface="Calibri"/>
                <a:ea typeface="Calibri"/>
                <a:cs typeface="Calibri"/>
              </a:rPr>
              <a:t> an end-to-end data cleaning and CSV analysis pipeline covering acquisition, quality assessment, cleaning, analysis, and automated reporting.</a:t>
            </a:r>
            <a:endParaRPr lang="en-US" sz="2000" spc="-1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  <a:tabLst>
                <a:tab pos="265430" algn="l"/>
              </a:tabLst>
            </a:pPr>
            <a:r>
              <a:rPr lang="en-US" sz="2000" b="1" spc="-10">
                <a:latin typeface="Calibri"/>
                <a:ea typeface="Calibri"/>
                <a:cs typeface="Calibri"/>
              </a:rPr>
              <a:t>Demonstrated the critical role of data cleaning</a:t>
            </a:r>
            <a:r>
              <a:rPr lang="en-US" sz="2000" spc="-10">
                <a:latin typeface="Calibri"/>
                <a:ea typeface="Calibri"/>
                <a:cs typeface="Calibri"/>
              </a:rPr>
              <a:t> in ensuring reliable analysis — raw data with missing values, duplicates, and inconsistencies would have led to skewed or incorrect insights if used directly.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  <a:tabLst>
                <a:tab pos="265430" algn="l"/>
              </a:tabLst>
            </a:pPr>
            <a:r>
              <a:rPr lang="en-US" sz="2000" b="1" spc="-10">
                <a:latin typeface="Calibri"/>
                <a:ea typeface="Calibri"/>
                <a:cs typeface="Calibri"/>
              </a:rPr>
              <a:t>Built reusable, modular components</a:t>
            </a:r>
            <a:r>
              <a:rPr lang="en-US" sz="2000" spc="-10">
                <a:latin typeface="Calibri"/>
                <a:ea typeface="Calibri"/>
                <a:cs typeface="Calibri"/>
              </a:rPr>
              <a:t> (fetch, clean, EDA, pipeline scripts) rather than one-off notebook code, making the solution applicable to new datasets with minimal changes.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  <a:tabLst>
                <a:tab pos="265430" algn="l"/>
              </a:tabLst>
            </a:pPr>
            <a:r>
              <a:rPr lang="en-US" sz="2000" b="1" spc="-10">
                <a:latin typeface="Calibri"/>
                <a:ea typeface="Calibri"/>
                <a:cs typeface="Calibri"/>
              </a:rPr>
              <a:t>Automated a traditionally manual and error-prone process</a:t>
            </a:r>
            <a:r>
              <a:rPr lang="en-US" sz="2000" spc="-10">
                <a:latin typeface="Calibri"/>
                <a:ea typeface="Calibri"/>
                <a:cs typeface="Calibri"/>
              </a:rPr>
              <a:t>, reducing processing time and improving consistency through a single-command pipeline with logging and error handling.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  <a:tabLst>
                <a:tab pos="265430" algn="l"/>
              </a:tabLst>
            </a:pPr>
            <a:r>
              <a:rPr lang="en-US" sz="2000" b="1" spc="-10" dirty="0">
                <a:latin typeface="Calibri"/>
                <a:ea typeface="Calibri"/>
                <a:cs typeface="Calibri"/>
              </a:rPr>
              <a:t>Gained practical, industry-relevant skills</a:t>
            </a:r>
            <a:r>
              <a:rPr lang="en-US" sz="2000" spc="-10" dirty="0">
                <a:latin typeface="Calibri"/>
                <a:ea typeface="Calibri"/>
                <a:cs typeface="Calibri"/>
              </a:rPr>
              <a:t> in Python data science tools (pandas, </a:t>
            </a:r>
            <a:r>
              <a:rPr lang="en-US" sz="2000" spc="-10" dirty="0" err="1">
                <a:latin typeface="Calibri"/>
                <a:ea typeface="Calibri"/>
                <a:cs typeface="Calibri"/>
              </a:rPr>
              <a:t>numpy</a:t>
            </a:r>
            <a:r>
              <a:rPr lang="en-US" sz="2000" spc="-10" dirty="0">
                <a:latin typeface="Calibri"/>
                <a:ea typeface="Calibri"/>
                <a:cs typeface="Calibri"/>
              </a:rPr>
              <a:t>, matplotlib/seaborn) that mirror real-world data engineering and analytics workflows.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  <a:tabLst>
                <a:tab pos="265430" algn="l"/>
              </a:tabLst>
            </a:pPr>
            <a:r>
              <a:rPr lang="en-US" sz="2000" b="1" spc="-10">
                <a:latin typeface="Calibri"/>
                <a:ea typeface="Calibri"/>
                <a:cs typeface="Calibri"/>
              </a:rPr>
              <a:t>Identified clear directions for improvement</a:t>
            </a:r>
            <a:r>
              <a:rPr lang="en-US" sz="2000" spc="-10">
                <a:latin typeface="Calibri"/>
                <a:ea typeface="Calibri"/>
                <a:cs typeface="Calibri"/>
              </a:rPr>
              <a:t> — including scalability, ML-based cleaning, and multi-source support — showing the project as a solid foundation rather than a finished, closed system.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  <a:tabLst>
                <a:tab pos="265430" algn="l"/>
              </a:tabLst>
            </a:pPr>
            <a:endParaRPr lang="en-US" sz="2000" spc="-10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6407" y="93699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48809" y="443864"/>
            <a:ext cx="2697968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>
                <a:latin typeface="Calibri"/>
                <a:ea typeface="Calibri"/>
                <a:cs typeface="Calibri"/>
              </a:rPr>
              <a:t>REFERENCES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00" y="93699"/>
            <a:ext cx="1135116" cy="13428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6407" y="93699"/>
            <a:ext cx="1520113" cy="13428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8C1260-EEFD-3C07-335C-79D7BDF97CDE}"/>
              </a:ext>
            </a:extLst>
          </p:cNvPr>
          <p:cNvSpPr txBox="1"/>
          <p:nvPr/>
        </p:nvSpPr>
        <p:spPr>
          <a:xfrm>
            <a:off x="852365" y="1712057"/>
            <a:ext cx="10494595" cy="54425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/>
              <a:t>McKinney, W. (2010). </a:t>
            </a:r>
            <a:r>
              <a:rPr lang="en-US" i="1"/>
              <a:t>pandas: Python Data Analysis Library</a:t>
            </a:r>
            <a:r>
              <a:rPr lang="en-US"/>
              <a:t>.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>
                <a:solidFill>
                  <a:srgbClr val="000000"/>
                </a:solidFill>
              </a:rPr>
              <a:t>Harris, C.R., et al. (2020). </a:t>
            </a:r>
            <a:r>
              <a:rPr lang="en-US" i="1">
                <a:solidFill>
                  <a:srgbClr val="000000"/>
                </a:solidFill>
              </a:rPr>
              <a:t>Array programming with NumPy</a:t>
            </a:r>
            <a:r>
              <a:rPr lang="en-US">
                <a:solidFill>
                  <a:srgbClr val="000000"/>
                </a:solidFill>
              </a:rPr>
              <a:t>. Nature 585, 357–362.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>
                <a:solidFill>
                  <a:srgbClr val="000000"/>
                </a:solidFill>
              </a:rPr>
              <a:t>Hunter, J.D. (2007). </a:t>
            </a:r>
            <a:r>
              <a:rPr lang="en-US" i="1">
                <a:solidFill>
                  <a:srgbClr val="000000"/>
                </a:solidFill>
              </a:rPr>
              <a:t>Matplotlib: A 2D Graphics Environment</a:t>
            </a:r>
            <a:r>
              <a:rPr lang="en-US">
                <a:solidFill>
                  <a:srgbClr val="000000"/>
                </a:solidFill>
              </a:rPr>
              <a:t>. Computing in Science &amp; Engineering.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Waskom, M. (2021). </a:t>
            </a:r>
            <a:r>
              <a:rPr lang="en-US" i="1" dirty="0">
                <a:solidFill>
                  <a:srgbClr val="000000"/>
                </a:solidFill>
              </a:rPr>
              <a:t>seaborn: statistical data visualization</a:t>
            </a:r>
            <a:r>
              <a:rPr lang="en-US" dirty="0">
                <a:solidFill>
                  <a:srgbClr val="000000"/>
                </a:solidFill>
              </a:rPr>
              <a:t>. Journal of </a:t>
            </a:r>
            <a:r>
              <a:rPr lang="en-US" dirty="0" err="1">
                <a:solidFill>
                  <a:srgbClr val="000000"/>
                </a:solidFill>
              </a:rPr>
              <a:t>Open Source</a:t>
            </a:r>
            <a:r>
              <a:rPr lang="en-US" dirty="0">
                <a:solidFill>
                  <a:srgbClr val="000000"/>
                </a:solidFill>
              </a:rPr>
              <a:t> Software.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 err="1">
                <a:solidFill>
                  <a:srgbClr val="000000"/>
                </a:solidFill>
              </a:rPr>
              <a:t>Kazil</a:t>
            </a:r>
            <a:r>
              <a:rPr lang="en-US" dirty="0">
                <a:solidFill>
                  <a:srgbClr val="000000"/>
                </a:solidFill>
              </a:rPr>
              <a:t>, J. &amp; </a:t>
            </a:r>
            <a:r>
              <a:rPr lang="en-US" dirty="0" err="1">
                <a:solidFill>
                  <a:srgbClr val="000000"/>
                </a:solidFill>
              </a:rPr>
              <a:t>Jarmul</a:t>
            </a:r>
            <a:r>
              <a:rPr lang="en-US" dirty="0">
                <a:solidFill>
                  <a:srgbClr val="000000"/>
                </a:solidFill>
              </a:rPr>
              <a:t>, K. (2016). </a:t>
            </a:r>
            <a:r>
              <a:rPr lang="en-US" i="1" dirty="0">
                <a:solidFill>
                  <a:srgbClr val="000000"/>
                </a:solidFill>
              </a:rPr>
              <a:t>Data Wrangling with Python</a:t>
            </a:r>
            <a:r>
              <a:rPr lang="en-US" dirty="0">
                <a:solidFill>
                  <a:srgbClr val="000000"/>
                </a:solidFill>
              </a:rPr>
              <a:t>. O'Reilly Media.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>
                <a:solidFill>
                  <a:srgbClr val="000000"/>
                </a:solidFill>
              </a:rPr>
              <a:t>VanderPlas, J. (2016). </a:t>
            </a:r>
            <a:r>
              <a:rPr lang="en-US" i="1">
                <a:solidFill>
                  <a:srgbClr val="000000"/>
                </a:solidFill>
              </a:rPr>
              <a:t>Python Data Science Handbook</a:t>
            </a:r>
            <a:r>
              <a:rPr lang="en-US">
                <a:solidFill>
                  <a:srgbClr val="000000"/>
                </a:solidFill>
              </a:rPr>
              <a:t>. O'Reilly Media.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>
                <a:solidFill>
                  <a:srgbClr val="000000"/>
                </a:solidFill>
              </a:rPr>
              <a:t>Wickham, H. (2014). </a:t>
            </a:r>
            <a:r>
              <a:rPr lang="en-US" i="1">
                <a:solidFill>
                  <a:srgbClr val="000000"/>
                </a:solidFill>
              </a:rPr>
              <a:t>Tidy Data</a:t>
            </a:r>
            <a:r>
              <a:rPr lang="en-US">
                <a:solidFill>
                  <a:srgbClr val="000000"/>
                </a:solidFill>
              </a:rPr>
              <a:t>. Journal of Statistical Software, 59(10).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>
                <a:solidFill>
                  <a:srgbClr val="000000"/>
                </a:solidFill>
              </a:rPr>
              <a:t>Tukey, J.W. (1977). </a:t>
            </a:r>
            <a:r>
              <a:rPr lang="en-US" i="1">
                <a:solidFill>
                  <a:srgbClr val="000000"/>
                </a:solidFill>
              </a:rPr>
              <a:t>Exploratory Data Analysis</a:t>
            </a:r>
            <a:r>
              <a:rPr lang="en-US">
                <a:solidFill>
                  <a:srgbClr val="000000"/>
                </a:solidFill>
              </a:rPr>
              <a:t>. Addison-Wesley. (Source of the IQR outlier method).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>
                <a:solidFill>
                  <a:srgbClr val="000000"/>
                </a:solidFill>
              </a:rPr>
              <a:t>Little, R.J.A. &amp; Rubin, D.B. (2019). </a:t>
            </a:r>
            <a:r>
              <a:rPr lang="en-US" i="1">
                <a:solidFill>
                  <a:srgbClr val="000000"/>
                </a:solidFill>
              </a:rPr>
              <a:t>Statistical Analysis with Missing Data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(3rd ed.). Wiley.</a:t>
            </a:r>
            <a:endParaRPr lang="en-US"/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>
                <a:solidFill>
                  <a:srgbClr val="000000"/>
                </a:solidFill>
              </a:rPr>
              <a:t>Osborne, J.W. (2012). </a:t>
            </a:r>
            <a:r>
              <a:rPr lang="en-US" i="1">
                <a:solidFill>
                  <a:srgbClr val="000000"/>
                </a:solidFill>
              </a:rPr>
              <a:t>Best Practices in Data Cleaning</a:t>
            </a:r>
            <a:r>
              <a:rPr lang="en-US">
                <a:solidFill>
                  <a:srgbClr val="000000"/>
                </a:solidFill>
              </a:rPr>
              <a:t>. SAGE Publications.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dirty="0">
              <a:solidFill>
                <a:srgbClr val="000000"/>
              </a:solidFill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1225" y="6428676"/>
            <a:ext cx="1247337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10">
                <a:solidFill>
                  <a:srgbClr val="888888"/>
                </a:solidFill>
                <a:latin typeface="Calibri"/>
                <a:cs typeface="Calibri"/>
              </a:rPr>
              <a:t>07/08/2026</a:t>
            </a:r>
            <a:endParaRPr lang="en-US" sz="1200">
              <a:latin typeface="Calibri"/>
              <a:cs typeface="Calibri"/>
            </a:endParaRPr>
          </a:p>
        </p:txBody>
      </p:sp>
      <p:pic>
        <p:nvPicPr>
          <p:cNvPr id="4" name="Picture 3" descr="Thank you Images - Free Download on Magnific (formerly Freepik)">
            <a:extLst>
              <a:ext uri="{FF2B5EF4-FFF2-40B4-BE49-F238E27FC236}">
                <a16:creationId xmlns:a16="http://schemas.microsoft.com/office/drawing/2014/main" id="{AF215C43-BDE7-A4B4-E8FF-F4B8B0FC0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785" y="1051595"/>
            <a:ext cx="8038122" cy="4217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1489</Words>
  <Application>Microsoft Office PowerPoint</Application>
  <PresentationFormat>Widescreen</PresentationFormat>
  <Paragraphs>156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MT</vt:lpstr>
      <vt:lpstr>Calibri</vt:lpstr>
      <vt:lpstr>Times New Roman</vt:lpstr>
      <vt:lpstr>Office Theme</vt:lpstr>
      <vt:lpstr>DATA CLEANING AND CSV ANALYSIS PIPELINE</vt:lpstr>
      <vt:lpstr>TABLE OF CONTENT</vt:lpstr>
      <vt:lpstr>  ABSTRACT</vt:lpstr>
      <vt:lpstr>    INTRODUCTION</vt:lpstr>
      <vt:lpstr>PROBLEM STATEMENT</vt:lpstr>
      <vt:lpstr>ARCHITECTURE DIAGRAM</vt:lpstr>
      <vt:lpstr>MODULE - 1</vt:lpstr>
      <vt:lpstr>PowerPoint Presentation</vt:lpstr>
      <vt:lpstr>MODULE - 2</vt:lpstr>
      <vt:lpstr>PowerPoint Presentation</vt:lpstr>
      <vt:lpstr>PowerPoint Presentation</vt:lpstr>
      <vt:lpstr>MODULE - 3</vt:lpstr>
      <vt:lpstr>PowerPoint Presentation</vt:lpstr>
      <vt:lpstr>PowerPoint Presentation</vt:lpstr>
      <vt:lpstr>MODULE - 4</vt:lpstr>
      <vt:lpstr>PowerPoint Presentation</vt:lpstr>
      <vt:lpstr>PowerPoint Presentation</vt:lpstr>
      <vt:lpstr>MODULE - 5</vt:lpstr>
      <vt:lpstr>PowerPoint Presentation</vt:lpstr>
      <vt:lpstr>RESULTS AND COMPARISON</vt:lpstr>
      <vt:lpstr>LIMITATIONS &amp; FUTURE SCOPE</vt:lpstr>
      <vt:lpstr>   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PPT(FORMAT).pptx</dc:title>
  <dc:creator>Monish</dc:creator>
  <cp:lastModifiedBy>Monish L</cp:lastModifiedBy>
  <cp:revision>1178</cp:revision>
  <dcterms:created xsi:type="dcterms:W3CDTF">2026-08-06T12:55:44Z</dcterms:created>
  <dcterms:modified xsi:type="dcterms:W3CDTF">2026-09-03T11:25:27Z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2026-08-06T00:00:00Z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2026-08-06T00:00:00Z</vt:filetime>
  </property>
</Properties>
</file>